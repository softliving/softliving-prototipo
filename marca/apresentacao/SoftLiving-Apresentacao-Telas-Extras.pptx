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boxes com icone, titulo e texto curto.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Comparacao lado a lado. Esquerda: o problema. Direita: a resposta da marca.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colunas numeradas, com linha navy no topo.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Seis boxes numerados em duas linhas.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navy a esquerda e tabela de informacoes a direita.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colunas de planos: verde, vidro e dourado.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boxes de opcoes e uma faixa dourada de destaque embaixo.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Grafico de colunas com dados de exemplo. Ajuste a altura de cada barra e troque os rotulos.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Barras horizontais com dados de exemplo. Ajuste o comprimento de cada barra verde.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Grafico de rosca com tres partes e dados de exemplo. A legenda leva o valor de cada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indicadores em destaque e uma faixa navy com a conclusao.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Linha do tempo com cinco marcos.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95250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7A4F"/>
                </a:solidFill>
                <a:latin typeface="Inter"/>
              </a:rPr>
              <a:t>DIFERENCIAIS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28750"/>
            <a:ext cx="16002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100" b="1" i="0">
                <a:solidFill>
                  <a:srgbClr val="013565"/>
                </a:solidFill>
                <a:latin typeface="Fraunces"/>
              </a:rPr>
              <a:t>Por que o </a:t>
            </a:r>
            <a:r>
              <a:rPr sz="51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5100" b="1" i="0">
                <a:solidFill>
                  <a:srgbClr val="1F5519"/>
                </a:solidFill>
                <a:latin typeface="Times New Roman"/>
              </a:rPr>
              <a:t>Living</a:t>
            </a:r>
            <a:r>
              <a:rPr sz="5100" b="1" i="0">
                <a:solidFill>
                  <a:srgbClr val="013565"/>
                </a:solidFill>
                <a:latin typeface="Fraunces"/>
              </a:rPr>
              <a:t> é diferente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381250"/>
            <a:ext cx="14287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0" i="0">
                <a:solidFill>
                  <a:srgbClr val="56606C"/>
                </a:solidFill>
                <a:latin typeface="Inter"/>
              </a:rPr>
              <a:t>Enquanto as redes disputam a sua atenção, o </a:t>
            </a:r>
            <a:r>
              <a:rPr sz="225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2250" b="1" i="0">
                <a:solidFill>
                  <a:srgbClr val="1F5519"/>
                </a:solidFill>
                <a:latin typeface="Times New Roman"/>
              </a:rPr>
              <a:t>Living</a:t>
            </a:r>
            <a:r>
              <a:rPr sz="2250" b="0" i="0">
                <a:solidFill>
                  <a:srgbClr val="56606C"/>
                </a:solidFill>
                <a:latin typeface="Inter"/>
              </a:rPr>
              <a:t> devolve o seu tempo.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3000" y="3333750"/>
            <a:ext cx="3771900" cy="5143500"/>
          </a:xfrm>
          <a:prstGeom prst="roundRect">
            <a:avLst>
              <a:gd name="adj" fmla="val 11111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4000" y="3714750"/>
            <a:ext cx="685800" cy="685800"/>
          </a:xfrm>
          <a:prstGeom prst="roundRect">
            <a:avLst>
              <a:gd name="adj" fmla="val 30555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-noa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3867150"/>
            <a:ext cx="381000" cy="381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24000" y="4724400"/>
            <a:ext cx="30099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13565"/>
                </a:solidFill>
                <a:latin typeface="Fraunces"/>
              </a:rPr>
              <a:t>Sem anúncios na navegação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5905500"/>
            <a:ext cx="30099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75" b="0" i="0">
                <a:solidFill>
                  <a:srgbClr val="56606C"/>
                </a:solidFill>
                <a:latin typeface="Inter"/>
              </a:rPr>
              <a:t>Aqui não há banners nem rolagem infinita. Nada disputa a sua atenção.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9700" y="3333750"/>
            <a:ext cx="3771900" cy="5143500"/>
          </a:xfrm>
          <a:prstGeom prst="roundRect">
            <a:avLst>
              <a:gd name="adj" fmla="val 11111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00700" y="3714750"/>
            <a:ext cx="685800" cy="685800"/>
          </a:xfrm>
          <a:prstGeom prst="roundRect">
            <a:avLst>
              <a:gd name="adj" fmla="val 30555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-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3100" y="3867150"/>
            <a:ext cx="381000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00700" y="4724400"/>
            <a:ext cx="30099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13565"/>
                </a:solidFill>
                <a:latin typeface="Fraunces"/>
              </a:rPr>
              <a:t>Curadoria em tudo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0700" y="5905500"/>
            <a:ext cx="30099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75" b="0" i="0">
                <a:solidFill>
                  <a:srgbClr val="56606C"/>
                </a:solidFill>
                <a:latin typeface="Inter"/>
              </a:rPr>
              <a:t>Cada conteúdo, grupo e parceiro passa pela seleção da nossa equipe. Menos volume, mais relevância.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96400" y="3333750"/>
            <a:ext cx="3771900" cy="5143500"/>
          </a:xfrm>
          <a:prstGeom prst="roundRect">
            <a:avLst>
              <a:gd name="adj" fmla="val 11111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77400" y="3714750"/>
            <a:ext cx="685800" cy="685800"/>
          </a:xfrm>
          <a:prstGeom prst="roundRect">
            <a:avLst>
              <a:gd name="adj" fmla="val 30555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-us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0" y="3867150"/>
            <a:ext cx="381000" cy="381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77400" y="4724400"/>
            <a:ext cx="30099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13565"/>
                </a:solidFill>
                <a:latin typeface="Fraunces"/>
              </a:rPr>
              <a:t>Do digital para o encontro 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7400" y="5905500"/>
            <a:ext cx="30099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75" b="0" i="0">
                <a:solidFill>
                  <a:srgbClr val="56606C"/>
                </a:solidFill>
                <a:latin typeface="Inter"/>
              </a:rPr>
              <a:t>Grupos e eventos presenciais que transformam interesses em amizades.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373100" y="3333750"/>
            <a:ext cx="3771900" cy="5143500"/>
          </a:xfrm>
          <a:prstGeom prst="roundRect">
            <a:avLst>
              <a:gd name="adj" fmla="val 11111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3754100" y="3714750"/>
            <a:ext cx="685800" cy="685800"/>
          </a:xfrm>
          <a:prstGeom prst="roundRect">
            <a:avLst>
              <a:gd name="adj" fmla="val 30555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c-he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06500" y="3867150"/>
            <a:ext cx="381000" cy="381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754100" y="4724400"/>
            <a:ext cx="30099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13565"/>
                </a:solidFill>
                <a:latin typeface="Fraunces"/>
              </a:rPr>
              <a:t>A alegria de ficar de fora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54100" y="5905500"/>
            <a:ext cx="30099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75" b="0" i="0">
                <a:solidFill>
                  <a:srgbClr val="56606C"/>
                </a:solidFill>
                <a:latin typeface="Inter"/>
              </a:rPr>
              <a:t>Você não precisa saber de tudo. Escolha o que importa e aproveite com calma.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857250"/>
            <a:ext cx="16002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5700" b="1" i="0">
                <a:solidFill>
                  <a:srgbClr val="013565"/>
                </a:solidFill>
                <a:latin typeface="Fraunces"/>
              </a:rPr>
              <a:t>Do FOMO ao </a:t>
            </a:r>
            <a:r>
              <a:rPr sz="5700" b="1" i="1">
                <a:solidFill>
                  <a:srgbClr val="1F5519"/>
                </a:solidFill>
                <a:latin typeface="Fraunces"/>
              </a:rPr>
              <a:t>JOMO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905000"/>
            <a:ext cx="11430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2100" b="0" i="0">
                <a:solidFill>
                  <a:srgbClr val="56606C"/>
                </a:solidFill>
                <a:latin typeface="Inter"/>
              </a:rPr>
              <a:t>As redes sociais nos ensinaram a ter medo de ficar de fora. O </a:t>
            </a:r>
            <a:r>
              <a:rPr sz="21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2100" b="1" i="0">
                <a:solidFill>
                  <a:srgbClr val="1F5519"/>
                </a:solidFill>
                <a:latin typeface="Times New Roman"/>
              </a:rPr>
              <a:t>Living</a:t>
            </a:r>
            <a:r>
              <a:rPr sz="2100" b="0" i="0">
                <a:solidFill>
                  <a:srgbClr val="56606C"/>
                </a:solidFill>
                <a:latin typeface="Inter"/>
              </a:rPr>
              <a:t> nasceu para devolver a alegria de escolher.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3143250"/>
            <a:ext cx="7810500" cy="5429250"/>
          </a:xfrm>
          <a:prstGeom prst="roundRect">
            <a:avLst>
              <a:gd name="adj" fmla="val 8421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34500" y="3143250"/>
            <a:ext cx="7810500" cy="5429250"/>
          </a:xfrm>
          <a:prstGeom prst="roundRect">
            <a:avLst>
              <a:gd name="adj" fmla="val 8421"/>
            </a:avLst>
          </a:prstGeom>
          <a:solidFill>
            <a:srgbClr val="E6F2EA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00200" y="3562350"/>
            <a:ext cx="3810000" cy="438150"/>
          </a:xfrm>
          <a:prstGeom prst="roundRect">
            <a:avLst>
              <a:gd name="adj" fmla="val 50000"/>
            </a:avLst>
          </a:prstGeom>
          <a:solidFill>
            <a:srgbClr val="F6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3562350"/>
            <a:ext cx="3810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B3261E"/>
                </a:solidFill>
                <a:latin typeface="Inter"/>
              </a:rPr>
              <a:t>FOMO · Fear of Missing 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91700" y="3562350"/>
            <a:ext cx="3810000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91700" y="3562350"/>
            <a:ext cx="381000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5519"/>
                </a:solidFill>
                <a:latin typeface="Inter"/>
              </a:rPr>
              <a:t>JOMO · Joy of Missing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229100"/>
            <a:ext cx="68961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50" b="1" i="0">
                <a:solidFill>
                  <a:srgbClr val="013565"/>
                </a:solidFill>
                <a:latin typeface="Fraunces"/>
              </a:rPr>
              <a:t>O medo de ficar de fora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91700" y="4229100"/>
            <a:ext cx="68961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50" b="1" i="0">
                <a:solidFill>
                  <a:srgbClr val="013565"/>
                </a:solidFill>
                <a:latin typeface="Fraunces"/>
              </a:rPr>
              <a:t>A alegria de ficar de fora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819650"/>
            <a:ext cx="68961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56606C"/>
                </a:solidFill>
                <a:latin typeface="Inter"/>
              </a:rPr>
              <a:t>A sensação de que todo mundo está vivendo algo melhor, e de que é preciso acompanhar tudo, o tempo todo.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91700" y="4819650"/>
            <a:ext cx="68961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56606C"/>
                </a:solidFill>
                <a:latin typeface="Inter"/>
              </a:rPr>
              <a:t>A liberdade de deixar passar o que não importa, para aproveitar de verdade o que faz sentido para você.</a:t>
            </a:r>
          </a:p>
        </p:txBody>
      </p:sp>
      <p:pic>
        <p:nvPicPr>
          <p:cNvPr id="15" name="Picture 14" descr="ic-min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6210300"/>
            <a:ext cx="285750" cy="2857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38350" y="6191250"/>
            <a:ext cx="6457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6606C"/>
                </a:solidFill>
                <a:latin typeface="Inter"/>
              </a:rPr>
              <a:t>Notificações e rolagem infinita</a:t>
            </a:r>
          </a:p>
        </p:txBody>
      </p:sp>
      <p:pic>
        <p:nvPicPr>
          <p:cNvPr id="17" name="Picture 16" descr="ic-min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6705600"/>
            <a:ext cx="285750" cy="2857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38350" y="6686550"/>
            <a:ext cx="6457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6606C"/>
                </a:solidFill>
                <a:latin typeface="Inter"/>
              </a:rPr>
              <a:t>Comparação constante com a vida dos outros</a:t>
            </a:r>
          </a:p>
        </p:txBody>
      </p:sp>
      <p:pic>
        <p:nvPicPr>
          <p:cNvPr id="19" name="Picture 18" descr="ic-min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7200900"/>
            <a:ext cx="285750" cy="2857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038350" y="7181850"/>
            <a:ext cx="6457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6606C"/>
                </a:solidFill>
                <a:latin typeface="Inter"/>
              </a:rPr>
              <a:t>Muita informação, pouca presença</a:t>
            </a:r>
          </a:p>
        </p:txBody>
      </p:sp>
      <p:pic>
        <p:nvPicPr>
          <p:cNvPr id="21" name="Picture 20" descr="ic-min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7696200"/>
            <a:ext cx="285750" cy="2857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38350" y="7677150"/>
            <a:ext cx="6457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56606C"/>
                </a:solidFill>
                <a:latin typeface="Inter"/>
              </a:rPr>
              <a:t>Cansaço e ansiedade no fim do dia</a:t>
            </a:r>
          </a:p>
        </p:txBody>
      </p:sp>
      <p:pic>
        <p:nvPicPr>
          <p:cNvPr id="23" name="Picture 22" descr="ic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1700" y="6210300"/>
            <a:ext cx="285750" cy="2857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229850" y="6191250"/>
            <a:ext cx="6457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D2430"/>
                </a:solidFill>
                <a:latin typeface="Inter"/>
              </a:rPr>
              <a:t>Conteúdo escolhido pela curadoria, sem excesso</a:t>
            </a:r>
          </a:p>
        </p:txBody>
      </p:sp>
      <p:pic>
        <p:nvPicPr>
          <p:cNvPr id="25" name="Picture 24" descr="ic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1700" y="6705600"/>
            <a:ext cx="285750" cy="2857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229850" y="6686550"/>
            <a:ext cx="6457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D2430"/>
                </a:solidFill>
                <a:latin typeface="Inter"/>
              </a:rPr>
              <a:t>Grupos por interesse e encontros de verdade</a:t>
            </a:r>
          </a:p>
        </p:txBody>
      </p:sp>
      <p:pic>
        <p:nvPicPr>
          <p:cNvPr id="27" name="Picture 26" descr="ic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1700" y="7200900"/>
            <a:ext cx="285750" cy="2857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229850" y="7181850"/>
            <a:ext cx="6457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D2430"/>
                </a:solidFill>
                <a:latin typeface="Inter"/>
              </a:rPr>
              <a:t>Tempo de qualidade, no seu ritmo</a:t>
            </a:r>
          </a:p>
        </p:txBody>
      </p:sp>
      <p:pic>
        <p:nvPicPr>
          <p:cNvPr id="29" name="Picture 28" descr="ic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1700" y="7696200"/>
            <a:ext cx="285750" cy="2857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229850" y="7677150"/>
            <a:ext cx="6457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1D2430"/>
                </a:solidFill>
                <a:latin typeface="Inter"/>
              </a:rPr>
              <a:t>Mais presença, menos pressa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95250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7A4F"/>
                </a:solidFill>
                <a:latin typeface="Inter"/>
              </a:rPr>
              <a:t>QUEM SOMOS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28750"/>
            <a:ext cx="16002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100" b="1" i="0">
                <a:solidFill>
                  <a:srgbClr val="013565"/>
                </a:solidFill>
                <a:latin typeface="Fraunces"/>
              </a:rPr>
              <a:t>Nossos valores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3048000"/>
            <a:ext cx="3771900" cy="28575"/>
          </a:xfrm>
          <a:prstGeom prst="rect">
            <a:avLst/>
          </a:prstGeom>
          <a:solidFill>
            <a:srgbClr val="013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295650"/>
            <a:ext cx="3771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2E7A4F"/>
                </a:solidFill>
                <a:latin typeface="Fraunce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33800"/>
            <a:ext cx="3771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50" b="1" i="0">
                <a:solidFill>
                  <a:srgbClr val="013565"/>
                </a:solidFill>
                <a:latin typeface="Fraunces"/>
              </a:rPr>
              <a:t>Curadoria rigorosa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62500"/>
            <a:ext cx="361950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25" b="0" i="0">
                <a:solidFill>
                  <a:srgbClr val="56606C"/>
                </a:solidFill>
                <a:latin typeface="Inter"/>
              </a:rPr>
              <a:t>Rejeitamos o volume e o barulho. Nosso compromisso é economizar o seu ativo mais precioso: o seu tempo. Entregamos apenas o que é relevante, refinado e útil para a vida real.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9700" y="3048000"/>
            <a:ext cx="3771900" cy="28575"/>
          </a:xfrm>
          <a:prstGeom prst="rect">
            <a:avLst/>
          </a:prstGeom>
          <a:solidFill>
            <a:srgbClr val="013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9700" y="3295650"/>
            <a:ext cx="3771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2E7A4F"/>
                </a:solidFill>
                <a:latin typeface="Fraunce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9700" y="3733800"/>
            <a:ext cx="3771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50" b="1" i="0">
                <a:solidFill>
                  <a:srgbClr val="013565"/>
                </a:solidFill>
                <a:latin typeface="Fraunces"/>
              </a:rPr>
              <a:t>Fricção zero e acessibilidade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9700" y="4762500"/>
            <a:ext cx="361950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25" b="0" i="0">
                <a:solidFill>
                  <a:srgbClr val="56606C"/>
                </a:solidFill>
                <a:latin typeface="Inter"/>
              </a:rPr>
              <a:t>A tecnologia deve servir às pessoas, não o contrário. Desenvolvemos interfaces limpas, pagamento simplificado pela carteira de créditos e soluções rápidas, com total transparência.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96400" y="3048000"/>
            <a:ext cx="3771900" cy="28575"/>
          </a:xfrm>
          <a:prstGeom prst="rect">
            <a:avLst/>
          </a:prstGeom>
          <a:solidFill>
            <a:srgbClr val="013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6400" y="3295650"/>
            <a:ext cx="3771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2E7A4F"/>
                </a:solidFill>
                <a:latin typeface="Fraunce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6400" y="3733800"/>
            <a:ext cx="3771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50" b="1" i="0">
                <a:solidFill>
                  <a:srgbClr val="013565"/>
                </a:solidFill>
                <a:latin typeface="Fraunces"/>
              </a:rPr>
              <a:t>Conformidade e proteção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6400" y="4762500"/>
            <a:ext cx="361950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25" b="0" i="0">
                <a:solidFill>
                  <a:srgbClr val="56606C"/>
                </a:solidFill>
                <a:latin typeface="Inter"/>
              </a:rPr>
              <a:t>Atuamos com responsabilidade jurídica e ética estrita. Protegemos a sua privacidade com o anonimato estatístico exigido pela LGPD e oferecemos às instituições parceiras o respaldo documental de que precisam.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73100" y="3048000"/>
            <a:ext cx="3771900" cy="28575"/>
          </a:xfrm>
          <a:prstGeom prst="rect">
            <a:avLst/>
          </a:prstGeom>
          <a:solidFill>
            <a:srgbClr val="013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373100" y="3295650"/>
            <a:ext cx="37719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i="0">
                <a:solidFill>
                  <a:srgbClr val="2E7A4F"/>
                </a:solidFill>
                <a:latin typeface="Fraunce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73100" y="3733800"/>
            <a:ext cx="37719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50" b="1" i="0">
                <a:solidFill>
                  <a:srgbClr val="013565"/>
                </a:solidFill>
                <a:latin typeface="Fraunces"/>
              </a:rPr>
              <a:t>Conexão humana legítima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73100" y="4762500"/>
            <a:ext cx="361950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25" b="0" i="0">
                <a:solidFill>
                  <a:srgbClr val="56606C"/>
                </a:solidFill>
                <a:latin typeface="Inter"/>
              </a:rPr>
              <a:t>O digital é apenas o meio; o fim é o pertencimento na vida real. Estimulamos comunidades, clubes de interesse e pontes que combatem o isolamento social e valorizam a troca de ideias.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762000"/>
            <a:ext cx="16002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013565"/>
                </a:solidFill>
                <a:latin typeface="Fraunces"/>
              </a:rPr>
              <a:t>Seis passos, no seu ritmo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905000"/>
            <a:ext cx="5086350" cy="3314700"/>
          </a:xfrm>
          <a:prstGeom prst="roundRect">
            <a:avLst>
              <a:gd name="adj" fmla="val 12643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85900" y="2114550"/>
            <a:ext cx="190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 i="0">
                <a:solidFill>
                  <a:srgbClr val="9FD0B0"/>
                </a:solidFill>
                <a:latin typeface="Fraunces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85900" y="2971800"/>
            <a:ext cx="2171700" cy="38100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5900" y="2971800"/>
            <a:ext cx="21717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5519"/>
                </a:solidFill>
                <a:latin typeface="Inter"/>
              </a:rPr>
              <a:t>cerca de 1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5900" y="3486150"/>
            <a:ext cx="44005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50" b="1" i="0">
                <a:solidFill>
                  <a:srgbClr val="013565"/>
                </a:solidFill>
                <a:latin typeface="Fraunces"/>
              </a:rPr>
              <a:t>Faça seu cadastro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5900" y="3943350"/>
            <a:ext cx="44005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Nome, e-mail e senha, e você já ganha 20 créditos de bônus. Perfil e interesses você completa depois, quando quiser.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00825" y="1905000"/>
            <a:ext cx="5086350" cy="3314700"/>
          </a:xfrm>
          <a:prstGeom prst="roundRect">
            <a:avLst>
              <a:gd name="adj" fmla="val 12643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3725" y="2114550"/>
            <a:ext cx="190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 i="0">
                <a:solidFill>
                  <a:srgbClr val="9FD0B0"/>
                </a:solidFill>
                <a:latin typeface="Fraunces"/>
              </a:rPr>
              <a:t>02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3725" y="2971800"/>
            <a:ext cx="2971800" cy="38100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3725" y="2971800"/>
            <a:ext cx="29718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5519"/>
                </a:solidFill>
                <a:latin typeface="Inter"/>
              </a:rPr>
              <a:t>Grátis e com créditos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3725" y="3486150"/>
            <a:ext cx="44005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50" b="1" i="0">
                <a:solidFill>
                  <a:srgbClr val="013565"/>
                </a:solidFill>
                <a:latin typeface="Fraunces"/>
              </a:rPr>
              <a:t>Acesse conteúdos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3725" y="3943350"/>
            <a:ext cx="44005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Muitos conteúdos são gratuitos, já outros são pagos com créditos, para valorizar os especialistas escolhidos pela nossa curadoria.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58650" y="1905000"/>
            <a:ext cx="5086350" cy="3314700"/>
          </a:xfrm>
          <a:prstGeom prst="roundRect">
            <a:avLst>
              <a:gd name="adj" fmla="val 12643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401550" y="2114550"/>
            <a:ext cx="190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 i="0">
                <a:solidFill>
                  <a:srgbClr val="9FD0B0"/>
                </a:solidFill>
                <a:latin typeface="Fraunces"/>
              </a:rP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401550" y="2971800"/>
            <a:ext cx="2514600" cy="38100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01550" y="2971800"/>
            <a:ext cx="2514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5519"/>
                </a:solidFill>
                <a:latin typeface="Inter"/>
              </a:rPr>
              <a:t>Sempre disponível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401550" y="3486150"/>
            <a:ext cx="44005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50" b="1" i="0">
                <a:solidFill>
                  <a:srgbClr val="013565"/>
                </a:solidFill>
                <a:latin typeface="Fraunces"/>
              </a:rPr>
              <a:t>Explore os Grupos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01550" y="3943350"/>
            <a:ext cx="44005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Entre em grupos por interesse, conheça pessoas com gostos parecidos e participe de conversas e atividades.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48300"/>
            <a:ext cx="5086350" cy="3314700"/>
          </a:xfrm>
          <a:prstGeom prst="roundRect">
            <a:avLst>
              <a:gd name="adj" fmla="val 12643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5900" y="5657850"/>
            <a:ext cx="190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 i="0">
                <a:solidFill>
                  <a:srgbClr val="9FD0B0"/>
                </a:solidFill>
                <a:latin typeface="Fraunces"/>
              </a:rPr>
              <a:t>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85900" y="6515100"/>
            <a:ext cx="2057400" cy="38100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85900" y="6515100"/>
            <a:ext cx="20574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5519"/>
                </a:solidFill>
                <a:latin typeface="Inter"/>
              </a:rPr>
              <a:t>Quando quiser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5900" y="7029450"/>
            <a:ext cx="44005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50" b="1" i="0">
                <a:solidFill>
                  <a:srgbClr val="013565"/>
                </a:solidFill>
                <a:latin typeface="Fraunces"/>
              </a:rPr>
              <a:t>Vá aos encontros presenciais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5900" y="7486650"/>
            <a:ext cx="44005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Eventos organizados pela nossa curadoria, para levar a conversa da tela para a vida real. Ingresso pago à parte.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00825" y="5448300"/>
            <a:ext cx="5086350" cy="3314700"/>
          </a:xfrm>
          <a:prstGeom prst="roundRect">
            <a:avLst>
              <a:gd name="adj" fmla="val 12643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3725" y="5657850"/>
            <a:ext cx="190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 i="0">
                <a:solidFill>
                  <a:srgbClr val="9FD0B0"/>
                </a:solidFill>
                <a:latin typeface="Fraunces"/>
              </a:rPr>
              <a:t>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3725" y="6515100"/>
            <a:ext cx="2514600" cy="38100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3725" y="6515100"/>
            <a:ext cx="25146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5519"/>
                </a:solidFill>
                <a:latin typeface="Inter"/>
              </a:rPr>
              <a:t>Sempre disponível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3725" y="7029450"/>
            <a:ext cx="44005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50" b="1" i="0">
                <a:solidFill>
                  <a:srgbClr val="013565"/>
                </a:solidFill>
                <a:latin typeface="Fraunces"/>
              </a:rPr>
              <a:t>Aproveite os parceiros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3725" y="7486650"/>
            <a:ext cx="44005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Produtos e serviços de parceiros selecionados, com condições especiais para a comunidade.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058650" y="5448300"/>
            <a:ext cx="5086350" cy="3314700"/>
          </a:xfrm>
          <a:prstGeom prst="roundRect">
            <a:avLst>
              <a:gd name="adj" fmla="val 12643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401550" y="5657850"/>
            <a:ext cx="190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 i="0">
                <a:solidFill>
                  <a:srgbClr val="9FD0B0"/>
                </a:solidFill>
                <a:latin typeface="Fraunces"/>
              </a:rPr>
              <a:t>06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401550" y="6515100"/>
            <a:ext cx="1485900" cy="38100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01550" y="6515100"/>
            <a:ext cx="14859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5519"/>
                </a:solidFill>
                <a:latin typeface="Inter"/>
              </a:rPr>
              <a:t>Opcional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401550" y="7029450"/>
            <a:ext cx="44005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50" b="1" i="0">
                <a:solidFill>
                  <a:srgbClr val="013565"/>
                </a:solidFill>
                <a:latin typeface="Fraunces"/>
              </a:rPr>
              <a:t>Faça sua primeira recarga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401550" y="7486650"/>
            <a:ext cx="44005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Com um Pix de R$50 você recebe 50 créditos e mais 50 de bônus. Nas recargas seguintes, o bônus vai de 10% a 20%.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1047750"/>
            <a:ext cx="72390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 i="0">
                <a:solidFill>
                  <a:srgbClr val="013565"/>
                </a:solidFill>
                <a:latin typeface="Fraunces"/>
              </a:rPr>
              <a:t>Sua carteira de créditos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7622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950" b="0" i="0">
                <a:solidFill>
                  <a:srgbClr val="56606C"/>
                </a:solidFill>
                <a:latin typeface="Inter"/>
              </a:rPr>
              <a:t>Funciona como um cartão pré-pago: você recarrega, usa quando quiser e recarrega de novo quando precisar.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4286250"/>
            <a:ext cx="7239000" cy="4095750"/>
          </a:xfrm>
          <a:prstGeom prst="roundRect">
            <a:avLst>
              <a:gd name="adj" fmla="val 11162"/>
            </a:avLst>
          </a:prstGeom>
          <a:solidFill>
            <a:srgbClr val="013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470535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1">
                <a:solidFill>
                  <a:srgbClr val="D6E6F5"/>
                </a:solidFill>
                <a:latin typeface="Times New Roman"/>
              </a:rPr>
              <a:t>Soft</a:t>
            </a:r>
            <a:r>
              <a:rPr sz="2700" b="1" i="0">
                <a:solidFill>
                  <a:srgbClr val="CFE9C4"/>
                </a:solidFill>
                <a:latin typeface="Times New Roman"/>
              </a:rPr>
              <a:t>Living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762500"/>
            <a:ext cx="33528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D6E6F5"/>
                </a:solidFill>
                <a:latin typeface="Inter"/>
              </a:rPr>
              <a:t>Carteira de créditos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5905500"/>
            <a:ext cx="6477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Fraunces"/>
              </a:rPr>
              <a:t>R$1 = 1 crédito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6819900"/>
            <a:ext cx="6477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0" i="0">
                <a:solidFill>
                  <a:srgbClr val="D6E6F5"/>
                </a:solidFill>
                <a:latin typeface="Inter"/>
              </a:rPr>
              <a:t>Recarga por Pix ou cartão · sem prazo de validade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00200" y="7562850"/>
            <a:ext cx="2095500" cy="4191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75628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Inter"/>
              </a:rPr>
              <a:t>+20 no cadastro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0" y="7562850"/>
            <a:ext cx="2247900" cy="4191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10000" y="7562850"/>
            <a:ext cx="22479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Inter"/>
              </a:rPr>
              <a:t>+50 na 1ª recarga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7562850"/>
            <a:ext cx="2095500" cy="419100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75628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Inter"/>
              </a:rPr>
              <a:t>+5 por indicação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34500" y="1143000"/>
            <a:ext cx="7810500" cy="19050"/>
          </a:xfrm>
          <a:prstGeom prst="rect">
            <a:avLst/>
          </a:prstGeom>
          <a:solidFill>
            <a:srgbClr val="E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4500" y="1143000"/>
            <a:ext cx="314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25" b="1" i="0">
                <a:solidFill>
                  <a:srgbClr val="013565"/>
                </a:solidFill>
                <a:latin typeface="Inter"/>
              </a:rPr>
              <a:t>R$1 = 1 crédito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73000" y="1143000"/>
            <a:ext cx="45720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Recarga por Pix ou cartão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34500" y="1943100"/>
            <a:ext cx="7810500" cy="19050"/>
          </a:xfrm>
          <a:prstGeom prst="rect">
            <a:avLst/>
          </a:prstGeom>
          <a:solidFill>
            <a:srgbClr val="E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4500" y="1943100"/>
            <a:ext cx="314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25" b="1" i="0">
                <a:solidFill>
                  <a:srgbClr val="013565"/>
                </a:solidFill>
                <a:latin typeface="Inter"/>
              </a:rPr>
              <a:t>Bônus de cadastro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3000" y="1943100"/>
            <a:ext cx="45720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20 créditos de bônus ao criar a conta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34500" y="2743200"/>
            <a:ext cx="7810500" cy="19050"/>
          </a:xfrm>
          <a:prstGeom prst="rect">
            <a:avLst/>
          </a:prstGeom>
          <a:solidFill>
            <a:srgbClr val="E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34500" y="2743200"/>
            <a:ext cx="314325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25" b="1" i="0">
                <a:solidFill>
                  <a:srgbClr val="013565"/>
                </a:solidFill>
                <a:latin typeface="Inter"/>
              </a:rPr>
              <a:t>Primeira recarga com 100% de bônus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73000" y="2743200"/>
            <a:ext cx="4572000" cy="1066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R$50 viram 50 créditos mais 50 de bônus. Depois: R$50 +5, R$100 +15 e R$200 +40 de bônus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334500" y="3810000"/>
            <a:ext cx="7810500" cy="19050"/>
          </a:xfrm>
          <a:prstGeom prst="rect">
            <a:avLst/>
          </a:prstGeom>
          <a:solidFill>
            <a:srgbClr val="E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34500" y="3810000"/>
            <a:ext cx="314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25" b="1" i="0">
                <a:solidFill>
                  <a:srgbClr val="013565"/>
                </a:solidFill>
                <a:latin typeface="Inter"/>
              </a:rPr>
              <a:t>Indique um amigo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73000" y="3810000"/>
            <a:ext cx="45720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5 créditos de bônus por indicação aprovada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34500" y="4610100"/>
            <a:ext cx="7810500" cy="19050"/>
          </a:xfrm>
          <a:prstGeom prst="rect">
            <a:avLst/>
          </a:prstGeom>
          <a:solidFill>
            <a:srgbClr val="E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34500" y="4610100"/>
            <a:ext cx="314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25" b="1" i="0">
                <a:solidFill>
                  <a:srgbClr val="013565"/>
                </a:solidFill>
                <a:latin typeface="Inter"/>
              </a:rPr>
              <a:t>Onde usar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73000" y="4610100"/>
            <a:ext cx="45720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Conteúdos pagos e clubes de assinatura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34500" y="5410200"/>
            <a:ext cx="7810500" cy="19050"/>
          </a:xfrm>
          <a:prstGeom prst="rect">
            <a:avLst/>
          </a:prstGeom>
          <a:solidFill>
            <a:srgbClr val="E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34500" y="5410200"/>
            <a:ext cx="314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25" b="1" i="0">
                <a:solidFill>
                  <a:srgbClr val="013565"/>
                </a:solidFill>
                <a:latin typeface="Inter"/>
              </a:rPr>
              <a:t>Sem prazo de validade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573000" y="5410200"/>
            <a:ext cx="45720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Use no seu tempo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34500" y="6210300"/>
            <a:ext cx="7810500" cy="19050"/>
          </a:xfrm>
          <a:prstGeom prst="rect">
            <a:avLst/>
          </a:prstGeom>
          <a:solidFill>
            <a:srgbClr val="E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34500" y="6210300"/>
            <a:ext cx="31432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725" b="1" i="0">
                <a:solidFill>
                  <a:srgbClr val="013565"/>
                </a:solidFill>
                <a:latin typeface="Inter"/>
              </a:rPr>
              <a:t>Sem obrigação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73000" y="6210300"/>
            <a:ext cx="45720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Recarregue só se quiser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34500" y="7010400"/>
            <a:ext cx="7810500" cy="19050"/>
          </a:xfrm>
          <a:prstGeom prst="rect">
            <a:avLst/>
          </a:prstGeom>
          <a:solidFill>
            <a:srgbClr val="E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34500" y="7200900"/>
            <a:ext cx="7810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25" b="0" i="0">
                <a:solidFill>
                  <a:srgbClr val="7C8591"/>
                </a:solidFill>
                <a:latin typeface="Inter"/>
              </a:rPr>
              <a:t>Créditos e bônus são de uso interno e não podem ser sacados. O bônus fica numa carteira separada. Eventos presenciais são pagos por ingresso, fora da carteira.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666750"/>
            <a:ext cx="16002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>
                <a:solidFill>
                  <a:srgbClr val="013565"/>
                </a:solidFill>
                <a:latin typeface="Fraunces"/>
              </a:rPr>
              <a:t>Como participar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809750"/>
            <a:ext cx="5086350" cy="7048500"/>
          </a:xfrm>
          <a:prstGeom prst="roundRect">
            <a:avLst>
              <a:gd name="adj" fmla="val 8239"/>
            </a:avLst>
          </a:prstGeom>
          <a:solidFill>
            <a:srgbClr val="1F5519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2100" y="219075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62100" y="219075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5519"/>
                </a:solidFill>
                <a:latin typeface="Inter"/>
              </a:rPr>
              <a:t>Sempre grátis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62100" y="2819400"/>
            <a:ext cx="42481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FFFFF"/>
                </a:solidFill>
                <a:latin typeface="Fraunces"/>
              </a:rPr>
              <a:t>Conta gratuita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2100" y="3429000"/>
            <a:ext cx="424815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E6F2EA"/>
                </a:solidFill>
                <a:latin typeface="Inter"/>
              </a:rPr>
              <a:t>Cadastre-se, explore a comunidade, faça amigos e acesse conteúdos sem pagar nada. No cadastro, você já ganha 20 créditos de bônus.</a:t>
            </a:r>
          </a:p>
        </p:txBody>
      </p:sp>
      <p:pic>
        <p:nvPicPr>
          <p:cNvPr id="9" name="Picture 8" descr="ic-check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5238750"/>
            <a:ext cx="285750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00250" y="52197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FFFFFF"/>
                </a:solidFill>
                <a:latin typeface="Inter"/>
              </a:rPr>
              <a:t>Grupos gratuitos</a:t>
            </a:r>
          </a:p>
        </p:txBody>
      </p:sp>
      <p:pic>
        <p:nvPicPr>
          <p:cNvPr id="11" name="Picture 10" descr="ic-check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5695950"/>
            <a:ext cx="285750" cy="285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00250" y="56769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FFFFFF"/>
                </a:solidFill>
                <a:latin typeface="Inter"/>
              </a:rPr>
              <a:t>Conteúdos gratuitos</a:t>
            </a:r>
          </a:p>
        </p:txBody>
      </p:sp>
      <p:pic>
        <p:nvPicPr>
          <p:cNvPr id="13" name="Picture 12" descr="ic-check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6153150"/>
            <a:ext cx="285750" cy="285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00250" y="61341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FFFFFF"/>
                </a:solidFill>
                <a:latin typeface="Inter"/>
              </a:rPr>
              <a:t>Seu perfil</a:t>
            </a:r>
          </a:p>
        </p:txBody>
      </p:sp>
      <p:pic>
        <p:nvPicPr>
          <p:cNvPr id="15" name="Picture 14" descr="ic-check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100" y="6610350"/>
            <a:ext cx="285750" cy="2857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00250" y="65913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FFFFFF"/>
                </a:solidFill>
                <a:latin typeface="Inter"/>
              </a:rPr>
              <a:t>Ambiente com curadoria e sem anúncios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62100" y="7905750"/>
            <a:ext cx="4248150" cy="609600"/>
          </a:xfrm>
          <a:prstGeom prst="roundRect">
            <a:avLst>
              <a:gd name="adj" fmla="val 50000"/>
            </a:avLst>
          </a:prstGeom>
          <a:solidFill>
            <a:srgbClr val="174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62100" y="7905750"/>
            <a:ext cx="42481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" b="1" i="0">
                <a:solidFill>
                  <a:srgbClr val="F5C46B"/>
                </a:solidFill>
                <a:latin typeface="Inter"/>
              </a:rPr>
              <a:t>Cadastrar grátis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00825" y="1809750"/>
            <a:ext cx="5086350" cy="7048500"/>
          </a:xfrm>
          <a:prstGeom prst="roundRect">
            <a:avLst>
              <a:gd name="adj" fmla="val 8239"/>
            </a:avLst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019925" y="2190750"/>
            <a:ext cx="1905000" cy="40005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9925" y="2190750"/>
            <a:ext cx="19050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5519"/>
                </a:solidFill>
                <a:latin typeface="Inter"/>
              </a:rPr>
              <a:t>Recomendado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9925" y="2819400"/>
            <a:ext cx="42481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13565"/>
                </a:solidFill>
                <a:latin typeface="Fraunces"/>
              </a:rPr>
              <a:t>Com créditos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9925" y="3333750"/>
            <a:ext cx="4248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 i="0">
                <a:solidFill>
                  <a:srgbClr val="013565"/>
                </a:solidFill>
                <a:latin typeface="Fraunces"/>
              </a:rPr>
              <a:t>R$50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9925" y="4152900"/>
            <a:ext cx="424815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 b="0" i="0">
                <a:solidFill>
                  <a:srgbClr val="1D2430"/>
                </a:solidFill>
                <a:latin typeface="Inter"/>
              </a:rPr>
              <a:t>na primeira recarga = 50 créditos + 50 de bônus, e até 20% de bônus nas recargas seguintes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925" y="5200650"/>
            <a:ext cx="4248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1" i="0">
                <a:solidFill>
                  <a:srgbClr val="013565"/>
                </a:solidFill>
                <a:latin typeface="Inter"/>
              </a:rPr>
              <a:t>Tudo da conta gratuita, mais:</a:t>
            </a:r>
          </a:p>
        </p:txBody>
      </p:sp>
      <p:pic>
        <p:nvPicPr>
          <p:cNvPr id="26" name="Picture 25" descr="ic-check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925" y="5657850"/>
            <a:ext cx="285750" cy="2857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58075" y="56388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1D2430"/>
                </a:solidFill>
                <a:latin typeface="Inter"/>
              </a:rPr>
              <a:t>Clubes de assinatura</a:t>
            </a:r>
          </a:p>
        </p:txBody>
      </p:sp>
      <p:pic>
        <p:nvPicPr>
          <p:cNvPr id="28" name="Picture 27" descr="ic-check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925" y="6096000"/>
            <a:ext cx="285750" cy="2857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458075" y="607695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1D2430"/>
                </a:solidFill>
                <a:latin typeface="Inter"/>
              </a:rPr>
              <a:t>Conteúdos completos e exclusivos</a:t>
            </a:r>
          </a:p>
        </p:txBody>
      </p:sp>
      <p:pic>
        <p:nvPicPr>
          <p:cNvPr id="30" name="Picture 29" descr="ic-check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925" y="6534150"/>
            <a:ext cx="285750" cy="2857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458075" y="65151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1D2430"/>
                </a:solidFill>
                <a:latin typeface="Inter"/>
              </a:rPr>
              <a:t>Desconto em produtos de parceiros</a:t>
            </a:r>
          </a:p>
        </p:txBody>
      </p:sp>
      <p:pic>
        <p:nvPicPr>
          <p:cNvPr id="32" name="Picture 31" descr="ic-check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925" y="6972300"/>
            <a:ext cx="285750" cy="2857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458075" y="695325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1D2430"/>
                </a:solidFill>
                <a:latin typeface="Inter"/>
              </a:rPr>
              <a:t>Eventos e encontros exclusivos</a:t>
            </a:r>
          </a:p>
        </p:txBody>
      </p:sp>
      <p:pic>
        <p:nvPicPr>
          <p:cNvPr id="34" name="Picture 33" descr="ic-check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9925" y="7410450"/>
            <a:ext cx="285750" cy="2857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458075" y="73914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 i="0">
                <a:solidFill>
                  <a:srgbClr val="1D2430"/>
                </a:solidFill>
                <a:latin typeface="Inter"/>
              </a:rPr>
              <a:t>Suporte prioritário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19925" y="7981950"/>
            <a:ext cx="4248150" cy="609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19925" y="7981950"/>
            <a:ext cx="42481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25" b="1" i="0">
                <a:solidFill>
                  <a:srgbClr val="013565"/>
                </a:solidFill>
                <a:latin typeface="Inter"/>
              </a:rPr>
              <a:t>Fazer primeira recarga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058650" y="1809750"/>
            <a:ext cx="5086350" cy="7048500"/>
          </a:xfrm>
          <a:prstGeom prst="roundRect">
            <a:avLst>
              <a:gd name="adj" fmla="val 8239"/>
            </a:avLst>
          </a:prstGeom>
          <a:solidFill>
            <a:srgbClr val="F1D89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477750" y="2190750"/>
            <a:ext cx="1428750" cy="4000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477750" y="2190750"/>
            <a:ext cx="142875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8A5A0E"/>
                </a:solidFill>
                <a:latin typeface="Inter"/>
              </a:rPr>
              <a:t>Em breve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477750" y="2819400"/>
            <a:ext cx="42481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8A5A0E"/>
                </a:solidFill>
                <a:latin typeface="Fraunces"/>
              </a:rPr>
              <a:t>Assinatura VIP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477750" y="3429000"/>
            <a:ext cx="42481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Uma camada premium com ainda mais benefícios. Em breve, os detalhes.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571500"/>
            <a:ext cx="16002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500" b="1" i="0">
                <a:solidFill>
                  <a:srgbClr val="013565"/>
                </a:solidFill>
                <a:latin typeface="Fraunces"/>
              </a:rPr>
              <a:t>Três formas de participar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619250"/>
            <a:ext cx="5086350" cy="5143500"/>
          </a:xfrm>
          <a:prstGeom prst="roundRect">
            <a:avLst>
              <a:gd name="adj" fmla="val 8239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24000" y="1962150"/>
            <a:ext cx="43243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2E7A4F"/>
                </a:solidFill>
                <a:latin typeface="Inter"/>
              </a:rPr>
              <a:t>PRESENÇA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2324100"/>
            <a:ext cx="43243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 i="0">
                <a:solidFill>
                  <a:srgbClr val="013565"/>
                </a:solidFill>
                <a:latin typeface="Fraunces"/>
              </a:rPr>
              <a:t>Cota Fundadora</a:t>
            </a:r>
          </a:p>
        </p:txBody>
      </p:sp>
      <p:pic>
        <p:nvPicPr>
          <p:cNvPr id="7" name="Picture 6" descr="ic-check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3181350"/>
            <a:ext cx="285750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62150" y="3143250"/>
            <a:ext cx="3886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Naming e co-branding em produto ou seção</a:t>
            </a:r>
          </a:p>
        </p:txBody>
      </p:sp>
      <p:pic>
        <p:nvPicPr>
          <p:cNvPr id="9" name="Picture 8" descr="ic-check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057650"/>
            <a:ext cx="285750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62150" y="4019550"/>
            <a:ext cx="3886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Espaço personalizado para clientes e colaboradores da marca</a:t>
            </a:r>
          </a:p>
        </p:txBody>
      </p:sp>
      <p:pic>
        <p:nvPicPr>
          <p:cNvPr id="11" name="Picture 10" descr="ic-check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933950"/>
            <a:ext cx="285750" cy="2857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62150" y="4895850"/>
            <a:ext cx="3886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Marca na newsletter e no WhatsApp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24000" y="6000750"/>
            <a:ext cx="4324350" cy="19050"/>
          </a:xfrm>
          <a:prstGeom prst="rect">
            <a:avLst/>
          </a:prstGeom>
          <a:solidFill>
            <a:srgbClr val="E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24000" y="6153150"/>
            <a:ext cx="4324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6606C"/>
                </a:solidFill>
                <a:latin typeface="Inter"/>
              </a:rPr>
              <a:t>Contrato de 12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0825" y="1619250"/>
            <a:ext cx="5086350" cy="5143500"/>
          </a:xfrm>
          <a:prstGeom prst="roundRect">
            <a:avLst>
              <a:gd name="adj" fmla="val 8239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1825" y="1962150"/>
            <a:ext cx="43243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2E7A4F"/>
                </a:solidFill>
                <a:latin typeface="Inter"/>
              </a:rPr>
              <a:t>PRESENÇA EM CONTEÚDO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1825" y="2324100"/>
            <a:ext cx="43243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 i="0">
                <a:solidFill>
                  <a:srgbClr val="013565"/>
                </a:solidFill>
                <a:latin typeface="Fraunces"/>
              </a:rPr>
              <a:t>Cota Presença</a:t>
            </a:r>
          </a:p>
        </p:txBody>
      </p:sp>
      <p:pic>
        <p:nvPicPr>
          <p:cNvPr id="18" name="Picture 17" descr="ic-check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825" y="3181350"/>
            <a:ext cx="285750" cy="2857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19975" y="3143250"/>
            <a:ext cx="3886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Presença consolidada no conteúdo editorial</a:t>
            </a:r>
          </a:p>
        </p:txBody>
      </p:sp>
      <p:pic>
        <p:nvPicPr>
          <p:cNvPr id="20" name="Picture 19" descr="ic-check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825" y="4057650"/>
            <a:ext cx="285750" cy="2857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19975" y="4019550"/>
            <a:ext cx="3886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Espaço para a marca falar com os clientes dela</a:t>
            </a:r>
          </a:p>
        </p:txBody>
      </p:sp>
      <p:pic>
        <p:nvPicPr>
          <p:cNvPr id="22" name="Picture 21" descr="ic-check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825" y="4933950"/>
            <a:ext cx="285750" cy="2857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19975" y="4895850"/>
            <a:ext cx="3886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Marca na newsletter e no WhatsApp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81825" y="6000750"/>
            <a:ext cx="4324350" cy="19050"/>
          </a:xfrm>
          <a:prstGeom prst="rect">
            <a:avLst/>
          </a:prstGeom>
          <a:solidFill>
            <a:srgbClr val="E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81825" y="6153150"/>
            <a:ext cx="4324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6606C"/>
                </a:solidFill>
                <a:latin typeface="Inter"/>
              </a:rPr>
              <a:t>Contrato de 12 meses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058650" y="1619250"/>
            <a:ext cx="5086350" cy="5143500"/>
          </a:xfrm>
          <a:prstGeom prst="roundRect">
            <a:avLst>
              <a:gd name="adj" fmla="val 8239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39650" y="1962150"/>
            <a:ext cx="43243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5" b="1" i="0">
                <a:solidFill>
                  <a:srgbClr val="2E7A4F"/>
                </a:solidFill>
                <a:latin typeface="Inter"/>
              </a:rPr>
              <a:t>PRESENÇA EM EVENTOS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39650" y="2324100"/>
            <a:ext cx="43243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 i="0">
                <a:solidFill>
                  <a:srgbClr val="013565"/>
                </a:solidFill>
                <a:latin typeface="Fraunces"/>
              </a:rPr>
              <a:t>Cota Pontual</a:t>
            </a:r>
          </a:p>
        </p:txBody>
      </p:sp>
      <p:pic>
        <p:nvPicPr>
          <p:cNvPr id="29" name="Picture 28" descr="ic-check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9650" y="3181350"/>
            <a:ext cx="285750" cy="2857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877800" y="3143250"/>
            <a:ext cx="3886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Entrada vinculada aos encontros presenciais</a:t>
            </a:r>
          </a:p>
        </p:txBody>
      </p:sp>
      <p:pic>
        <p:nvPicPr>
          <p:cNvPr id="31" name="Picture 30" descr="ic-check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9650" y="4057650"/>
            <a:ext cx="285750" cy="2857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877800" y="4019550"/>
            <a:ext cx="3886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Marca na newsletter e no WhatsApp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439650" y="6000750"/>
            <a:ext cx="4324350" cy="19050"/>
          </a:xfrm>
          <a:prstGeom prst="rect">
            <a:avLst/>
          </a:prstGeom>
          <a:solidFill>
            <a:srgbClr val="E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439650" y="6153150"/>
            <a:ext cx="43243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6606C"/>
                </a:solidFill>
                <a:latin typeface="Inter"/>
              </a:rPr>
              <a:t>Prazo a combinar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7048500"/>
            <a:ext cx="16002000" cy="1809750"/>
          </a:xfrm>
          <a:prstGeom prst="roundRect">
            <a:avLst>
              <a:gd name="adj" fmla="val 23157"/>
            </a:avLst>
          </a:prstGeom>
          <a:solidFill>
            <a:srgbClr val="F1D898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600200" y="7429500"/>
            <a:ext cx="1047750" cy="1047750"/>
          </a:xfrm>
          <a:prstGeom prst="ellipse">
            <a:avLst/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c-aw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7375" y="7686675"/>
            <a:ext cx="533400" cy="5334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048000" y="7353300"/>
            <a:ext cx="13335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50" b="1" i="0">
                <a:solidFill>
                  <a:srgbClr val="5C4108"/>
                </a:solidFill>
                <a:latin typeface="Fraunces"/>
              </a:rPr>
              <a:t>Selo Patrocinador Co-Fundador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48000" y="7924800"/>
            <a:ext cx="13525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50" b="0" i="0">
                <a:solidFill>
                  <a:srgbClr val="5C4108"/>
                </a:solidFill>
                <a:latin typeface="Inter"/>
              </a:rPr>
              <a:t>Quem entra nesta fase recebe o Selo Patrocinador Co-Fundador, um reconhecimento vitalício que permanece com a marca mesmo depois do contrato. O selo é concedido apenas nesta fase.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95250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7A4F"/>
                </a:solidFill>
                <a:latin typeface="Inter"/>
              </a:rPr>
              <a:t>[SEÇÃO]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28750"/>
            <a:ext cx="16002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100" b="1" i="0">
                <a:solidFill>
                  <a:srgbClr val="013565"/>
                </a:solidFill>
                <a:latin typeface="Fraunces"/>
              </a:rPr>
              <a:t>[Título do gráfico de colunas]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762250"/>
            <a:ext cx="10668000" cy="5905500"/>
          </a:xfrm>
          <a:prstGeom prst="roundRect">
            <a:avLst>
              <a:gd name="adj" fmla="val 7096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3067050"/>
            <a:ext cx="8572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013565"/>
                </a:solidFill>
                <a:latin typeface="Inter"/>
              </a:rPr>
              <a:t>[O que o gráfico mede, com a unidade]</a:t>
            </a:r>
          </a:p>
        </p:txBody>
      </p:sp>
      <p:sp>
        <p:nvSpPr>
          <p:cNvPr id="7" name="Rectangle 6"/>
          <p:cNvSpPr/>
          <p:nvPr/>
        </p:nvSpPr>
        <p:spPr>
          <a:xfrm>
            <a:off x="1600200" y="7715250"/>
            <a:ext cx="9753600" cy="19050"/>
          </a:xfrm>
          <a:prstGeom prst="rect">
            <a:avLst/>
          </a:prstGeom>
          <a:solidFill>
            <a:srgbClr val="E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00200" y="6381750"/>
            <a:ext cx="9753600" cy="19050"/>
          </a:xfrm>
          <a:prstGeom prst="rect">
            <a:avLst/>
          </a:prstGeom>
          <a:solidFill>
            <a:srgbClr val="E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00200" y="5048250"/>
            <a:ext cx="9753600" cy="19050"/>
          </a:xfrm>
          <a:prstGeom prst="rect">
            <a:avLst/>
          </a:prstGeom>
          <a:solidFill>
            <a:srgbClr val="E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00200" y="3714750"/>
            <a:ext cx="9753600" cy="19050"/>
          </a:xfrm>
          <a:prstGeom prst="rect">
            <a:avLst/>
          </a:prstGeom>
          <a:solidFill>
            <a:srgbClr val="E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66900" y="6200775"/>
            <a:ext cx="1104900" cy="1514475"/>
          </a:xfrm>
          <a:prstGeom prst="roundRect">
            <a:avLst>
              <a:gd name="adj" fmla="val 6896"/>
            </a:avLst>
          </a:prstGeom>
          <a:solidFill>
            <a:srgbClr val="2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76400" y="5819775"/>
            <a:ext cx="14859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0">
                <a:solidFill>
                  <a:srgbClr val="1D2430"/>
                </a:solidFill>
                <a:latin typeface="Inter"/>
              </a:rPr>
              <a:t>[00]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6400" y="7867650"/>
            <a:ext cx="14859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6606C"/>
                </a:solidFill>
                <a:latin typeface="Inter"/>
              </a:rPr>
              <a:t>[Per. 1]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67100" y="5638800"/>
            <a:ext cx="1104900" cy="2076450"/>
          </a:xfrm>
          <a:prstGeom prst="roundRect">
            <a:avLst>
              <a:gd name="adj" fmla="val 6896"/>
            </a:avLst>
          </a:prstGeom>
          <a:solidFill>
            <a:srgbClr val="2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76600" y="5257800"/>
            <a:ext cx="14859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0">
                <a:solidFill>
                  <a:srgbClr val="1D2430"/>
                </a:solidFill>
                <a:latin typeface="Inter"/>
              </a:rPr>
              <a:t>[00]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6600" y="7867650"/>
            <a:ext cx="14859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6606C"/>
                </a:solidFill>
                <a:latin typeface="Inter"/>
              </a:rPr>
              <a:t>[Per. 2]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67300" y="5838825"/>
            <a:ext cx="1104900" cy="1876425"/>
          </a:xfrm>
          <a:prstGeom prst="roundRect">
            <a:avLst>
              <a:gd name="adj" fmla="val 6896"/>
            </a:avLst>
          </a:prstGeom>
          <a:solidFill>
            <a:srgbClr val="2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76800" y="5457825"/>
            <a:ext cx="14859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0">
                <a:solidFill>
                  <a:srgbClr val="1D2430"/>
                </a:solidFill>
                <a:latin typeface="Inter"/>
              </a:rPr>
              <a:t>[00]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6800" y="7867650"/>
            <a:ext cx="14859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6606C"/>
                </a:solidFill>
                <a:latin typeface="Inter"/>
              </a:rPr>
              <a:t>[Per. 3]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500" y="5076825"/>
            <a:ext cx="1104900" cy="2638425"/>
          </a:xfrm>
          <a:prstGeom prst="roundRect">
            <a:avLst>
              <a:gd name="adj" fmla="val 6896"/>
            </a:avLst>
          </a:prstGeom>
          <a:solidFill>
            <a:srgbClr val="2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7000" y="4695825"/>
            <a:ext cx="14859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0">
                <a:solidFill>
                  <a:srgbClr val="1D2430"/>
                </a:solidFill>
                <a:latin typeface="Inter"/>
              </a:rPr>
              <a:t>[00]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7000" y="7867650"/>
            <a:ext cx="14859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6606C"/>
                </a:solidFill>
                <a:latin typeface="Inter"/>
              </a:rPr>
              <a:t>[Per. 4]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67700" y="4600575"/>
            <a:ext cx="1104900" cy="3114675"/>
          </a:xfrm>
          <a:prstGeom prst="roundRect">
            <a:avLst>
              <a:gd name="adj" fmla="val 6896"/>
            </a:avLst>
          </a:prstGeom>
          <a:solidFill>
            <a:srgbClr val="2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77200" y="4219575"/>
            <a:ext cx="14859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0">
                <a:solidFill>
                  <a:srgbClr val="1D2430"/>
                </a:solidFill>
                <a:latin typeface="Inter"/>
              </a:rPr>
              <a:t>[00]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7200" y="7867650"/>
            <a:ext cx="14859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6606C"/>
                </a:solidFill>
                <a:latin typeface="Inter"/>
              </a:rPr>
              <a:t>[Per. 5]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67900" y="4038600"/>
            <a:ext cx="1104900" cy="3676650"/>
          </a:xfrm>
          <a:prstGeom prst="roundRect">
            <a:avLst>
              <a:gd name="adj" fmla="val 6896"/>
            </a:avLst>
          </a:prstGeom>
          <a:solidFill>
            <a:srgbClr val="0B4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77400" y="3657600"/>
            <a:ext cx="14859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 i="0">
                <a:solidFill>
                  <a:srgbClr val="1D2430"/>
                </a:solidFill>
                <a:latin typeface="Inter"/>
              </a:rPr>
              <a:t>[00]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7400" y="7867650"/>
            <a:ext cx="14859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56606C"/>
                </a:solidFill>
                <a:latin typeface="Inter"/>
              </a:rPr>
              <a:t>[Per. 6]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8248650"/>
            <a:ext cx="952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C8591"/>
                </a:solidFill>
                <a:latin typeface="Inter"/>
              </a:rPr>
              <a:t>Dados de exemplo. Fonte: [fonte e período].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192000" y="2762250"/>
            <a:ext cx="4953000" cy="3810000"/>
          </a:xfrm>
          <a:prstGeom prst="roundRect">
            <a:avLst>
              <a:gd name="adj" fmla="val 11000"/>
            </a:avLst>
          </a:prstGeom>
          <a:solidFill>
            <a:srgbClr val="013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649200" y="3143250"/>
            <a:ext cx="40386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C46B"/>
                </a:solidFill>
                <a:latin typeface="Inter"/>
              </a:rPr>
              <a:t>DESTAQUE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49200" y="3543300"/>
            <a:ext cx="40386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1" i="0">
                <a:solidFill>
                  <a:srgbClr val="FFFFFF"/>
                </a:solidFill>
                <a:latin typeface="Fraunces"/>
              </a:rPr>
              <a:t>[00%]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49200" y="4953000"/>
            <a:ext cx="40386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D6E6F5"/>
                </a:solidFill>
                <a:latin typeface="Inter"/>
              </a:rPr>
              <a:t>[O que mudou no último período, em duas ou três linhas.]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192000" y="6858000"/>
            <a:ext cx="4953000" cy="1809750"/>
          </a:xfrm>
          <a:prstGeom prst="roundRect">
            <a:avLst>
              <a:gd name="adj" fmla="val 23157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649200" y="7162800"/>
            <a:ext cx="40386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1" i="0">
                <a:solidFill>
                  <a:srgbClr val="013565"/>
                </a:solidFill>
                <a:latin typeface="Fraunces"/>
              </a:rPr>
              <a:t>[Leitura do gráfico]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49200" y="7581900"/>
            <a:ext cx="40386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[Uma frase dizendo o que o público deve concluir.]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95250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7A4F"/>
                </a:solidFill>
                <a:latin typeface="Inter"/>
              </a:rPr>
              <a:t>[SEÇÃO]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28750"/>
            <a:ext cx="16002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100" b="1" i="0">
                <a:solidFill>
                  <a:srgbClr val="013565"/>
                </a:solidFill>
                <a:latin typeface="Fraunces"/>
              </a:rPr>
              <a:t>[Título do ranking em barras]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762250"/>
            <a:ext cx="10668000" cy="5905500"/>
          </a:xfrm>
          <a:prstGeom prst="roundRect">
            <a:avLst>
              <a:gd name="adj" fmla="val 7096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00200" y="3238500"/>
            <a:ext cx="571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13565"/>
                </a:solidFill>
                <a:latin typeface="Inter"/>
              </a:rPr>
              <a:t>[Categoria 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0" y="3238500"/>
            <a:ext cx="14478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1D2430"/>
                </a:solidFill>
                <a:latin typeface="Inter"/>
              </a:rPr>
              <a:t>[00%]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3657600"/>
            <a:ext cx="9753600" cy="20955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00200" y="3657600"/>
            <a:ext cx="8972550" cy="209550"/>
          </a:xfrm>
          <a:prstGeom prst="roundRect">
            <a:avLst>
              <a:gd name="adj" fmla="val 50000"/>
            </a:avLst>
          </a:prstGeom>
          <a:solidFill>
            <a:srgbClr val="2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4229100"/>
            <a:ext cx="571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13565"/>
                </a:solidFill>
                <a:latin typeface="Inter"/>
              </a:rPr>
              <a:t>[Categoria 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0" y="4229100"/>
            <a:ext cx="14478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1D2430"/>
                </a:solidFill>
                <a:latin typeface="Inter"/>
              </a:rPr>
              <a:t>[00%]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4648200"/>
            <a:ext cx="9753600" cy="20955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600200" y="4648200"/>
            <a:ext cx="7210425" cy="209550"/>
          </a:xfrm>
          <a:prstGeom prst="roundRect">
            <a:avLst>
              <a:gd name="adj" fmla="val 50000"/>
            </a:avLst>
          </a:prstGeom>
          <a:solidFill>
            <a:srgbClr val="2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5219700"/>
            <a:ext cx="571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13565"/>
                </a:solidFill>
                <a:latin typeface="Inter"/>
              </a:rPr>
              <a:t>[Categoria 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0" y="5219700"/>
            <a:ext cx="14478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1D2430"/>
                </a:solidFill>
                <a:latin typeface="Inter"/>
              </a:rPr>
              <a:t>[00%]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00200" y="5638800"/>
            <a:ext cx="9753600" cy="20955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600200" y="5638800"/>
            <a:ext cx="5943600" cy="209550"/>
          </a:xfrm>
          <a:prstGeom prst="roundRect">
            <a:avLst>
              <a:gd name="adj" fmla="val 50000"/>
            </a:avLst>
          </a:prstGeom>
          <a:solidFill>
            <a:srgbClr val="2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6210300"/>
            <a:ext cx="571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13565"/>
                </a:solidFill>
                <a:latin typeface="Inter"/>
              </a:rPr>
              <a:t>[Categoria 4]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210300"/>
            <a:ext cx="14478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1D2430"/>
                </a:solidFill>
                <a:latin typeface="Inter"/>
              </a:rPr>
              <a:t>[00%]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0200" y="6629400"/>
            <a:ext cx="9753600" cy="20955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00200" y="6629400"/>
            <a:ext cx="4676775" cy="209550"/>
          </a:xfrm>
          <a:prstGeom prst="roundRect">
            <a:avLst>
              <a:gd name="adj" fmla="val 50000"/>
            </a:avLst>
          </a:prstGeom>
          <a:solidFill>
            <a:srgbClr val="2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0200" y="7200900"/>
            <a:ext cx="571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13565"/>
                </a:solidFill>
                <a:latin typeface="Inter"/>
              </a:rPr>
              <a:t>[Categoria 5]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0" y="7200900"/>
            <a:ext cx="14478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800" b="1" i="0">
                <a:solidFill>
                  <a:srgbClr val="1D2430"/>
                </a:solidFill>
                <a:latin typeface="Inter"/>
              </a:rPr>
              <a:t>[00%]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00200" y="7620000"/>
            <a:ext cx="9753600" cy="20955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00200" y="7620000"/>
            <a:ext cx="3209925" cy="209550"/>
          </a:xfrm>
          <a:prstGeom prst="roundRect">
            <a:avLst>
              <a:gd name="adj" fmla="val 50000"/>
            </a:avLst>
          </a:prstGeom>
          <a:solidFill>
            <a:srgbClr val="2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8248650"/>
            <a:ext cx="952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C8591"/>
                </a:solidFill>
                <a:latin typeface="Inter"/>
              </a:rPr>
              <a:t>Dados de exemplo. Fonte: [fonte e período].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192000" y="2762250"/>
            <a:ext cx="4953000" cy="2857500"/>
          </a:xfrm>
          <a:prstGeom prst="roundRect">
            <a:avLst>
              <a:gd name="adj" fmla="val 14666"/>
            </a:avLst>
          </a:prstGeom>
          <a:solidFill>
            <a:srgbClr val="E6F2EA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649200" y="3105150"/>
            <a:ext cx="40386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A4F"/>
                </a:solidFill>
                <a:latin typeface="Inter"/>
              </a:rPr>
              <a:t>[INDICADOR 1]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49200" y="3486150"/>
            <a:ext cx="40386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b="1" i="0">
                <a:solidFill>
                  <a:srgbClr val="013565"/>
                </a:solidFill>
                <a:latin typeface="Fraunces"/>
              </a:rPr>
              <a:t>[000]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49200" y="4629150"/>
            <a:ext cx="4038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[O que este indicador mostra.]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192000" y="5810250"/>
            <a:ext cx="4953000" cy="2857500"/>
          </a:xfrm>
          <a:prstGeom prst="roundRect">
            <a:avLst>
              <a:gd name="adj" fmla="val 14666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649200" y="6153150"/>
            <a:ext cx="40386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E7A4F"/>
                </a:solidFill>
                <a:latin typeface="Inter"/>
              </a:rPr>
              <a:t>[INDICADOR 2]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649200" y="6534150"/>
            <a:ext cx="40386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b="1" i="0">
                <a:solidFill>
                  <a:srgbClr val="013565"/>
                </a:solidFill>
                <a:latin typeface="Fraunces"/>
              </a:rPr>
              <a:t>[000]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49200" y="7677150"/>
            <a:ext cx="40386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[O que este indicador mostra.]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95250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7A4F"/>
                </a:solidFill>
                <a:latin typeface="Inter"/>
              </a:rPr>
              <a:t>[SEÇÃO]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28750"/>
            <a:ext cx="16002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100" b="1" i="0">
                <a:solidFill>
                  <a:srgbClr val="013565"/>
                </a:solidFill>
                <a:latin typeface="Fraunces"/>
              </a:rPr>
              <a:t>[Título da distribuição]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762250"/>
            <a:ext cx="7810500" cy="5905500"/>
          </a:xfrm>
          <a:prstGeom prst="roundRect">
            <a:avLst>
              <a:gd name="adj" fmla="val 7096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lock Arc 5"/>
          <p:cNvSpPr/>
          <p:nvPr/>
        </p:nvSpPr>
        <p:spPr>
          <a:xfrm>
            <a:off x="3048000" y="3714750"/>
            <a:ext cx="4000500" cy="4000500"/>
          </a:xfrm>
          <a:prstGeom prst="blockArc">
            <a:avLst>
              <a:gd name="adj1" fmla="val 16272000"/>
              <a:gd name="adj2" fmla="val 6408000"/>
              <a:gd name="adj3" fmla="val 20000"/>
            </a:avLst>
          </a:prstGeom>
          <a:solidFill>
            <a:srgbClr val="2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lock Arc 6"/>
          <p:cNvSpPr/>
          <p:nvPr/>
        </p:nvSpPr>
        <p:spPr>
          <a:xfrm>
            <a:off x="3048000" y="3714750"/>
            <a:ext cx="4000500" cy="4000500"/>
          </a:xfrm>
          <a:prstGeom prst="blockArc">
            <a:avLst>
              <a:gd name="adj1" fmla="val 6552000"/>
              <a:gd name="adj2" fmla="val 12888000"/>
              <a:gd name="adj3" fmla="val 20000"/>
            </a:avLst>
          </a:prstGeom>
          <a:solidFill>
            <a:srgbClr val="E0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ock Arc 7"/>
          <p:cNvSpPr/>
          <p:nvPr/>
        </p:nvSpPr>
        <p:spPr>
          <a:xfrm>
            <a:off x="3048000" y="3714750"/>
            <a:ext cx="4000500" cy="4000500"/>
          </a:xfrm>
          <a:prstGeom prst="blockArc">
            <a:avLst>
              <a:gd name="adj1" fmla="val 13032000"/>
              <a:gd name="adj2" fmla="val 16128000"/>
              <a:gd name="adj3" fmla="val 20000"/>
            </a:avLst>
          </a:prstGeom>
          <a:solidFill>
            <a:srgbClr val="0B4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8000" y="5238750"/>
            <a:ext cx="40005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013565"/>
                </a:solidFill>
                <a:latin typeface="Fraunces"/>
              </a:rPr>
              <a:t>[000]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0" y="592455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[total]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34500" y="2762250"/>
            <a:ext cx="7810500" cy="5905500"/>
          </a:xfrm>
          <a:prstGeom prst="roundRect">
            <a:avLst>
              <a:gd name="adj" fmla="val 7096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1700" y="3314700"/>
            <a:ext cx="285750" cy="285750"/>
          </a:xfrm>
          <a:prstGeom prst="ellipse">
            <a:avLst/>
          </a:prstGeom>
          <a:solidFill>
            <a:srgbClr val="2E7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8900" y="3238500"/>
            <a:ext cx="4953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50" b="1" i="0">
                <a:solidFill>
                  <a:srgbClr val="013565"/>
                </a:solidFill>
                <a:latin typeface="Fraunces"/>
              </a:rPr>
              <a:t>[Parte 1]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8900" y="3695700"/>
            <a:ext cx="4953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[Uma linha explicando esta parte.]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0" y="3238500"/>
            <a:ext cx="1828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600" b="1" i="0">
                <a:solidFill>
                  <a:srgbClr val="1D2430"/>
                </a:solidFill>
                <a:latin typeface="Fraunces"/>
              </a:rPr>
              <a:t>55%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91700" y="4419600"/>
            <a:ext cx="6896100" cy="19050"/>
          </a:xfrm>
          <a:prstGeom prst="rect">
            <a:avLst/>
          </a:prstGeom>
          <a:solidFill>
            <a:srgbClr val="E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91700" y="4743450"/>
            <a:ext cx="285750" cy="285750"/>
          </a:xfrm>
          <a:prstGeom prst="ellipse">
            <a:avLst/>
          </a:prstGeom>
          <a:solidFill>
            <a:srgbClr val="E0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8900" y="4667250"/>
            <a:ext cx="4953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50" b="1" i="0">
                <a:solidFill>
                  <a:srgbClr val="013565"/>
                </a:solidFill>
                <a:latin typeface="Fraunces"/>
              </a:rPr>
              <a:t>[Parte 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8900" y="5124450"/>
            <a:ext cx="4953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[Uma linha explicando esta parte.]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0" y="4667250"/>
            <a:ext cx="1828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600" b="1" i="0">
                <a:solidFill>
                  <a:srgbClr val="1D2430"/>
                </a:solidFill>
                <a:latin typeface="Fraunces"/>
              </a:rPr>
              <a:t>30%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91700" y="5848350"/>
            <a:ext cx="6896100" cy="19050"/>
          </a:xfrm>
          <a:prstGeom prst="rect">
            <a:avLst/>
          </a:prstGeom>
          <a:solidFill>
            <a:srgbClr val="ECE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91700" y="6172200"/>
            <a:ext cx="285750" cy="285750"/>
          </a:xfrm>
          <a:prstGeom prst="ellipse">
            <a:avLst/>
          </a:prstGeom>
          <a:solidFill>
            <a:srgbClr val="0B4A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8900" y="6096000"/>
            <a:ext cx="4953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50" b="1" i="0">
                <a:solidFill>
                  <a:srgbClr val="013565"/>
                </a:solidFill>
                <a:latin typeface="Fraunces"/>
              </a:rPr>
              <a:t>[Parte 3]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8900" y="6553200"/>
            <a:ext cx="49530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[Uma linha explicando esta parte.]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0" y="6096000"/>
            <a:ext cx="18288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3600" b="1" i="0">
                <a:solidFill>
                  <a:srgbClr val="1D2430"/>
                </a:solidFill>
                <a:latin typeface="Fraunces"/>
              </a:rPr>
              <a:t>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91700" y="7962900"/>
            <a:ext cx="6896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C8591"/>
                </a:solidFill>
                <a:latin typeface="Inter"/>
              </a:rPr>
              <a:t>Dados de exemplo. Fonte: [fonte e período].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95250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7A4F"/>
                </a:solidFill>
                <a:latin typeface="Inter"/>
              </a:rPr>
              <a:t>[SEÇÃO]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28750"/>
            <a:ext cx="16002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100" b="1" i="0">
                <a:solidFill>
                  <a:srgbClr val="013565"/>
                </a:solidFill>
                <a:latin typeface="Fraunces"/>
              </a:rPr>
              <a:t>[Os números que importam]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857500"/>
            <a:ext cx="3771900" cy="3238500"/>
          </a:xfrm>
          <a:prstGeom prst="roundRect">
            <a:avLst>
              <a:gd name="adj" fmla="val 12941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24000" y="3200400"/>
            <a:ext cx="30099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1F5519"/>
                </a:solidFill>
                <a:latin typeface="Fraunces"/>
              </a:rPr>
              <a:t>[00]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4438650"/>
            <a:ext cx="3009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1" i="0">
                <a:solidFill>
                  <a:srgbClr val="013565"/>
                </a:solidFill>
                <a:latin typeface="Inter"/>
              </a:rPr>
              <a:t>[Indicador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4000" y="4895850"/>
            <a:ext cx="30099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[Uma linha de contexto.]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9700" y="2857500"/>
            <a:ext cx="3771900" cy="3238500"/>
          </a:xfrm>
          <a:prstGeom prst="roundRect">
            <a:avLst>
              <a:gd name="adj" fmla="val 12941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0700" y="3200400"/>
            <a:ext cx="30099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1F5519"/>
                </a:solidFill>
                <a:latin typeface="Fraunces"/>
              </a:rPr>
              <a:t>[00]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700" y="4438650"/>
            <a:ext cx="3009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1" i="0">
                <a:solidFill>
                  <a:srgbClr val="013565"/>
                </a:solidFill>
                <a:latin typeface="Inter"/>
              </a:rPr>
              <a:t>[Indicador 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700" y="4895850"/>
            <a:ext cx="30099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[Uma linha de contexto.]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96400" y="2857500"/>
            <a:ext cx="3771900" cy="3238500"/>
          </a:xfrm>
          <a:prstGeom prst="roundRect">
            <a:avLst>
              <a:gd name="adj" fmla="val 12941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77400" y="3200400"/>
            <a:ext cx="30099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1F5519"/>
                </a:solidFill>
                <a:latin typeface="Fraunces"/>
              </a:rPr>
              <a:t>[00]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77400" y="4438650"/>
            <a:ext cx="3009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1" i="0">
                <a:solidFill>
                  <a:srgbClr val="013565"/>
                </a:solidFill>
                <a:latin typeface="Inter"/>
              </a:rPr>
              <a:t>[Indicador 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77400" y="4895850"/>
            <a:ext cx="30099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[Uma linha de contexto.]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373100" y="2857500"/>
            <a:ext cx="3771900" cy="3238500"/>
          </a:xfrm>
          <a:prstGeom prst="roundRect">
            <a:avLst>
              <a:gd name="adj" fmla="val 12941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54100" y="3200400"/>
            <a:ext cx="30099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1F5519"/>
                </a:solidFill>
                <a:latin typeface="Fraunces"/>
              </a:rPr>
              <a:t>[00]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54100" y="4438650"/>
            <a:ext cx="3009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50" b="1" i="0">
                <a:solidFill>
                  <a:srgbClr val="013565"/>
                </a:solidFill>
                <a:latin typeface="Inter"/>
              </a:rPr>
              <a:t>[Indicador 4]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54100" y="4895850"/>
            <a:ext cx="30099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[Uma linha de contexto.]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6477000"/>
            <a:ext cx="16002000" cy="2095500"/>
          </a:xfrm>
          <a:prstGeom prst="roundRect">
            <a:avLst>
              <a:gd name="adj" fmla="val 20000"/>
            </a:avLst>
          </a:prstGeom>
          <a:solidFill>
            <a:srgbClr val="013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76400" y="6819900"/>
            <a:ext cx="762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5C46B"/>
                </a:solidFill>
                <a:latin typeface="Inter"/>
              </a:rPr>
              <a:t>O QUE ISSO SIGNIFICA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76400" y="7200900"/>
            <a:ext cx="14859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FFFFFF"/>
                </a:solidFill>
                <a:latin typeface="Fraunces"/>
              </a:rPr>
              <a:t>[Conclusão em uma ou duas frases, ligando os quatro números acima.]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ar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3000" y="952500"/>
            <a:ext cx="857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E7A4F"/>
                </a:solidFill>
                <a:latin typeface="Inter"/>
              </a:rPr>
              <a:t>[SEÇÃO]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428750"/>
            <a:ext cx="16002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100" b="1" i="0">
                <a:solidFill>
                  <a:srgbClr val="013565"/>
                </a:solidFill>
                <a:latin typeface="Fraunces"/>
              </a:rPr>
              <a:t>[Linha do tempo]</a:t>
            </a:r>
          </a:p>
        </p:txBody>
      </p:sp>
      <p:sp>
        <p:nvSpPr>
          <p:cNvPr id="5" name="Rectangle 4"/>
          <p:cNvSpPr/>
          <p:nvPr/>
        </p:nvSpPr>
        <p:spPr>
          <a:xfrm>
            <a:off x="1428750" y="4267200"/>
            <a:ext cx="15430500" cy="38100"/>
          </a:xfrm>
          <a:prstGeom prst="rect">
            <a:avLst/>
          </a:prstGeom>
          <a:solidFill>
            <a:srgbClr val="013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76500" y="413385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33650" y="4191000"/>
            <a:ext cx="190500" cy="190500"/>
          </a:xfrm>
          <a:prstGeom prst="ellipse">
            <a:avLst/>
          </a:prstGeom>
          <a:solidFill>
            <a:srgbClr val="1F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71650" y="3333750"/>
            <a:ext cx="1714500" cy="41910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71650" y="3333750"/>
            <a:ext cx="1714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5519"/>
                </a:solidFill>
                <a:latin typeface="Inter"/>
              </a:rPr>
              <a:t>[Mês/ano]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857750"/>
            <a:ext cx="2971800" cy="3238500"/>
          </a:xfrm>
          <a:prstGeom prst="roundRect">
            <a:avLst>
              <a:gd name="adj" fmla="val 12820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7800" y="5143500"/>
            <a:ext cx="23622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 i="0">
                <a:solidFill>
                  <a:srgbClr val="013565"/>
                </a:solidFill>
                <a:latin typeface="Fraunces"/>
              </a:rPr>
              <a:t>[Marco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7800" y="6096000"/>
            <a:ext cx="23622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[Duas ou três linhas sobre o que aconteceu ou vai acontecer.]</a:t>
            </a:r>
          </a:p>
        </p:txBody>
      </p:sp>
      <p:sp>
        <p:nvSpPr>
          <p:cNvPr id="13" name="Oval 12"/>
          <p:cNvSpPr/>
          <p:nvPr/>
        </p:nvSpPr>
        <p:spPr>
          <a:xfrm>
            <a:off x="5734050" y="413385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91200" y="4191000"/>
            <a:ext cx="190500" cy="190500"/>
          </a:xfrm>
          <a:prstGeom prst="ellipse">
            <a:avLst/>
          </a:prstGeom>
          <a:solidFill>
            <a:srgbClr val="1F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3333750"/>
            <a:ext cx="1714500" cy="41910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3333750"/>
            <a:ext cx="1714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5519"/>
                </a:solidFill>
                <a:latin typeface="Inter"/>
              </a:rPr>
              <a:t>[Mês/ano]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0550" y="4857750"/>
            <a:ext cx="2971800" cy="3238500"/>
          </a:xfrm>
          <a:prstGeom prst="roundRect">
            <a:avLst>
              <a:gd name="adj" fmla="val 12820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5350" y="5143500"/>
            <a:ext cx="23622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 i="0">
                <a:solidFill>
                  <a:srgbClr val="013565"/>
                </a:solidFill>
                <a:latin typeface="Fraunces"/>
              </a:rPr>
              <a:t>[Marco 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5350" y="6096000"/>
            <a:ext cx="23622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[Duas ou três linhas sobre o que aconteceu ou vai acontecer.]</a:t>
            </a:r>
          </a:p>
        </p:txBody>
      </p:sp>
      <p:sp>
        <p:nvSpPr>
          <p:cNvPr id="20" name="Oval 19"/>
          <p:cNvSpPr/>
          <p:nvPr/>
        </p:nvSpPr>
        <p:spPr>
          <a:xfrm>
            <a:off x="8991600" y="413385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48750" y="4191000"/>
            <a:ext cx="190500" cy="190500"/>
          </a:xfrm>
          <a:prstGeom prst="ellipse">
            <a:avLst/>
          </a:prstGeom>
          <a:solidFill>
            <a:srgbClr val="1F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86750" y="3333750"/>
            <a:ext cx="1714500" cy="41910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6750" y="3333750"/>
            <a:ext cx="1714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5519"/>
                </a:solidFill>
                <a:latin typeface="Inter"/>
              </a:rPr>
              <a:t>[Mês/ano]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58100" y="4857750"/>
            <a:ext cx="2971800" cy="3238500"/>
          </a:xfrm>
          <a:prstGeom prst="roundRect">
            <a:avLst>
              <a:gd name="adj" fmla="val 12820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62900" y="5143500"/>
            <a:ext cx="23622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 i="0">
                <a:solidFill>
                  <a:srgbClr val="013565"/>
                </a:solidFill>
                <a:latin typeface="Fraunces"/>
              </a:rPr>
              <a:t>[Marco 3]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62900" y="6096000"/>
            <a:ext cx="23622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[Duas ou três linhas sobre o que aconteceu ou vai acontecer.]</a:t>
            </a:r>
          </a:p>
        </p:txBody>
      </p:sp>
      <p:sp>
        <p:nvSpPr>
          <p:cNvPr id="27" name="Oval 26"/>
          <p:cNvSpPr/>
          <p:nvPr/>
        </p:nvSpPr>
        <p:spPr>
          <a:xfrm>
            <a:off x="12249150" y="413385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2306300" y="4191000"/>
            <a:ext cx="190500" cy="190500"/>
          </a:xfrm>
          <a:prstGeom prst="ellipse">
            <a:avLst/>
          </a:prstGeom>
          <a:solidFill>
            <a:srgbClr val="1F55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544300" y="3333750"/>
            <a:ext cx="1714500" cy="41910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544300" y="3333750"/>
            <a:ext cx="1714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5519"/>
                </a:solidFill>
                <a:latin typeface="Inter"/>
              </a:rPr>
              <a:t>[Mês/ano]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15650" y="4857750"/>
            <a:ext cx="2971800" cy="3238500"/>
          </a:xfrm>
          <a:prstGeom prst="roundRect">
            <a:avLst>
              <a:gd name="adj" fmla="val 12820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20450" y="5143500"/>
            <a:ext cx="23622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 i="0">
                <a:solidFill>
                  <a:srgbClr val="013565"/>
                </a:solidFill>
                <a:latin typeface="Fraunces"/>
              </a:rPr>
              <a:t>[Marco 4]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20450" y="6096000"/>
            <a:ext cx="23622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[Duas ou três linhas sobre o que aconteceu ou vai acontecer.]</a:t>
            </a:r>
          </a:p>
        </p:txBody>
      </p:sp>
      <p:sp>
        <p:nvSpPr>
          <p:cNvPr id="34" name="Oval 33"/>
          <p:cNvSpPr/>
          <p:nvPr/>
        </p:nvSpPr>
        <p:spPr>
          <a:xfrm>
            <a:off x="15506700" y="413385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5563850" y="4191000"/>
            <a:ext cx="190500" cy="190500"/>
          </a:xfrm>
          <a:prstGeom prst="ellipse">
            <a:avLst/>
          </a:prstGeom>
          <a:solidFill>
            <a:srgbClr val="E0A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4801850" y="3333750"/>
            <a:ext cx="1714500" cy="41910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801850" y="3333750"/>
            <a:ext cx="1714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F5519"/>
                </a:solidFill>
                <a:latin typeface="Inter"/>
              </a:rPr>
              <a:t>[Mês/ano]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173200" y="4857750"/>
            <a:ext cx="2971800" cy="3238500"/>
          </a:xfrm>
          <a:prstGeom prst="roundRect">
            <a:avLst>
              <a:gd name="adj" fmla="val 12820"/>
            </a:avLst>
          </a:prstGeom>
          <a:solidFill>
            <a:srgbClr val="FFFFFF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478000" y="5143500"/>
            <a:ext cx="23622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1" i="0">
                <a:solidFill>
                  <a:srgbClr val="013565"/>
                </a:solidFill>
                <a:latin typeface="Fraunces"/>
              </a:rPr>
              <a:t>[Marco 5]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478000" y="6096000"/>
            <a:ext cx="23622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75" b="0" i="0">
                <a:solidFill>
                  <a:srgbClr val="56606C"/>
                </a:solidFill>
                <a:latin typeface="Inter"/>
              </a:rPr>
              <a:t>[Duas ou três linhas sobre o que aconteceu ou vai acontecer.]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92202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1">
                <a:solidFill>
                  <a:srgbClr val="013565"/>
                </a:solidFill>
                <a:latin typeface="Times New Roman"/>
              </a:rPr>
              <a:t>Soft</a:t>
            </a:r>
            <a:r>
              <a:rPr sz="3300" b="1" i="0">
                <a:solidFill>
                  <a:srgbClr val="1F5519"/>
                </a:solidFill>
                <a:latin typeface="Times New Roman"/>
              </a:rPr>
              <a:t>Living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287500" y="931545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0" i="0">
                <a:solidFill>
                  <a:srgbClr val="56606C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