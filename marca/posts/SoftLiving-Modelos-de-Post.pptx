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762000"/>
            <a:ext cx="2857500" cy="62865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2857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F5519"/>
                </a:solidFill>
                <a:latin typeface="Inter"/>
              </a:rPr>
              <a:t>Coluna do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905000"/>
            <a:ext cx="876300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0" b="1" i="0">
                <a:solidFill>
                  <a:srgbClr val="013565"/>
                </a:solidFill>
                <a:latin typeface="Fraunces"/>
              </a:rPr>
              <a:t>Recomeçar também é um jeito de </a:t>
            </a:r>
            <a:r>
              <a:rPr sz="7800" b="1" i="1">
                <a:solidFill>
                  <a:srgbClr val="1F5519"/>
                </a:solidFill>
                <a:latin typeface="Fraunces"/>
              </a:rPr>
              <a:t>cuidar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6286500"/>
            <a:ext cx="8763000" cy="2381250"/>
          </a:xfrm>
          <a:prstGeom prst="roundRect">
            <a:avLst>
              <a:gd name="adj" fmla="val 20800"/>
            </a:avLst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9200" y="6724650"/>
            <a:ext cx="78486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0" i="0">
                <a:solidFill>
                  <a:srgbClr val="56606C"/>
                </a:solidFill>
                <a:latin typeface="Inter"/>
              </a:rPr>
              <a:t>[Texto de apoio em duas ou três linhas, contando do que trata a coluna e convidando para a leitura.]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9239250"/>
            <a:ext cx="3143250" cy="838200"/>
          </a:xfrm>
          <a:prstGeom prst="roundRect">
            <a:avLst>
              <a:gd name="adj" fmla="val 50000"/>
            </a:avLst>
          </a:prstGeom>
          <a:solidFill>
            <a:srgbClr val="1F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9239250"/>
            <a:ext cx="314325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Inter"/>
              </a:rPr>
              <a:t>Ler no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13919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48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0" y="11639550"/>
            <a:ext cx="419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100" b="0" i="0">
                <a:solidFill>
                  <a:srgbClr val="56606C"/>
                </a:solidFill>
                <a:latin typeface="Inter"/>
              </a:rPr>
              <a:t>Por [Nome do colunista]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0" b="1" i="0">
                <a:solidFill>
                  <a:srgbClr val="9FD0B0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67000"/>
            <a:ext cx="8763000" cy="323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5100" b="1" i="0">
                <a:solidFill>
                  <a:srgbClr val="013565"/>
                </a:solidFill>
                <a:latin typeface="Fraunces"/>
              </a:rPr>
              <a:t>[Frase de um membro da comunidade, em até quatro linhas, com uma palavra em </a:t>
            </a:r>
            <a:r>
              <a:rPr sz="5100" b="1" i="1">
                <a:solidFill>
                  <a:srgbClr val="1F5519"/>
                </a:solidFill>
                <a:latin typeface="Fraunces"/>
              </a:rPr>
              <a:t>destaque</a:t>
            </a:r>
            <a:r>
              <a:rPr sz="5100" b="1" i="0">
                <a:solidFill>
                  <a:srgbClr val="013565"/>
                </a:solidFill>
                <a:latin typeface="Fraunces"/>
              </a:rPr>
              <a:t>.]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7620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620000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>
                <a:solidFill>
                  <a:srgbClr val="1F5519"/>
                </a:solidFill>
                <a:latin typeface="Inter"/>
              </a:rPr>
              <a:t>FOTO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0750" y="7734300"/>
            <a:ext cx="7334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13565"/>
                </a:solidFill>
                <a:latin typeface="Inter"/>
              </a:rPr>
              <a:t>[Nome, idade]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0750" y="8248650"/>
            <a:ext cx="7334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0" i="0">
                <a:solidFill>
                  <a:srgbClr val="56606C"/>
                </a:solidFill>
                <a:latin typeface="Inter"/>
              </a:rPr>
              <a:t>[Grupo ou cidade]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13919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48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762000"/>
            <a:ext cx="2095500" cy="6286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2095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Inter"/>
              </a:rPr>
              <a:t>Convite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90500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400" b="1" i="0">
                <a:solidFill>
                  <a:srgbClr val="FFFFFF"/>
                </a:solidFill>
                <a:latin typeface="Fraunces"/>
              </a:rPr>
              <a:t>Sua opinião vale </a:t>
            </a:r>
            <a:r>
              <a:rPr sz="8400" b="1" i="1">
                <a:solidFill>
                  <a:srgbClr val="F5C46B"/>
                </a:solidFill>
                <a:latin typeface="Fraunces"/>
              </a:rPr>
              <a:t>créditos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76250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50" b="0" i="0">
                <a:solidFill>
                  <a:srgbClr val="D6E6F5"/>
                </a:solidFill>
                <a:latin typeface="Inter"/>
              </a:rPr>
              <a:t>[Uma ou duas frases explicando o convite e o que a pessoa ganha ao participar.]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6572250"/>
            <a:ext cx="2857500" cy="876300"/>
          </a:xfrm>
          <a:prstGeom prst="roundRect">
            <a:avLst>
              <a:gd name="adj" fmla="val 50000"/>
            </a:avLst>
          </a:prstGeom>
          <a:solidFill>
            <a:srgbClr val="E0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572250"/>
            <a:ext cx="285750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50" b="1" i="0">
                <a:solidFill>
                  <a:srgbClr val="1D2430"/>
                </a:solidFill>
                <a:latin typeface="Inter"/>
              </a:rPr>
              <a:t>Participar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13919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1">
                <a:solidFill>
                  <a:srgbClr val="D6E6F5"/>
                </a:solidFill>
                <a:latin typeface="Times New Roman"/>
              </a:rPr>
              <a:t>Soft</a:t>
            </a:r>
            <a:r>
              <a:rPr sz="4800" b="1" i="0">
                <a:solidFill>
                  <a:srgbClr val="CFE9C4"/>
                </a:solidFill>
                <a:latin typeface="Times New Roman"/>
              </a:rPr>
              <a:t>Living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6F8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ndo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250"/>
            <a:ext cx="10287000" cy="8572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2000" y="762000"/>
            <a:ext cx="1619250" cy="5334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16192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 i="0">
                <a:solidFill>
                  <a:srgbClr val="1F5C3D"/>
                </a:solidFill>
                <a:latin typeface="Inter"/>
              </a:rPr>
              <a:t>Grátis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38500"/>
            <a:ext cx="8763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50" b="1" i="0">
                <a:solidFill>
                  <a:srgbClr val="FFFFFF"/>
                </a:solidFill>
                <a:latin typeface="Inter"/>
              </a:rPr>
              <a:t>[FOTO EM TELA CHEIA: pessoas 50+, luz natural]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54380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FFFFFF"/>
                </a:solidFill>
                <a:latin typeface="Inter"/>
              </a:rPr>
              <a:t>BEM-ESTAR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058150"/>
            <a:ext cx="87630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600" b="1" i="0">
                <a:solidFill>
                  <a:srgbClr val="FFFFFF"/>
                </a:solidFill>
                <a:latin typeface="Fraunces"/>
              </a:rPr>
              <a:t>Caminhar em grupo muda a semana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13919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1">
                <a:solidFill>
                  <a:srgbClr val="D6E6F5"/>
                </a:solidFill>
                <a:latin typeface="Times New Roman"/>
              </a:rPr>
              <a:t>Soft</a:t>
            </a:r>
            <a:r>
              <a:rPr sz="4800" b="1" i="0">
                <a:solidFill>
                  <a:srgbClr val="CFE9C4"/>
                </a:solidFill>
                <a:latin typeface="Times New Roman"/>
              </a:rPr>
              <a:t>Living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0" y="11258550"/>
            <a:ext cx="3429000" cy="800100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0" y="11258550"/>
            <a:ext cx="34290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1F5519"/>
                </a:solidFill>
                <a:latin typeface="Inter"/>
              </a:rPr>
              <a:t>Ler a história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810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2E7A4F"/>
                </a:solidFill>
                <a:latin typeface="Inter"/>
              </a:rPr>
              <a:t>DICAS DA COMUNIDADE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33500"/>
            <a:ext cx="8763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6300" b="1" i="0">
                <a:solidFill>
                  <a:srgbClr val="013565"/>
                </a:solidFill>
                <a:latin typeface="Fraunces"/>
              </a:rPr>
              <a:t>3 jeitos de fazer novos </a:t>
            </a:r>
            <a:r>
              <a:rPr sz="6300" b="1" i="1">
                <a:solidFill>
                  <a:srgbClr val="1F5519"/>
                </a:solidFill>
                <a:latin typeface="Fraunces"/>
              </a:rPr>
              <a:t>amigos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3810000"/>
            <a:ext cx="8763000" cy="1809750"/>
          </a:xfrm>
          <a:prstGeom prst="roundRect">
            <a:avLst>
              <a:gd name="adj" fmla="val 25263"/>
            </a:avLst>
          </a:prstGeom>
          <a:solidFill>
            <a:srgbClr val="FFFFFF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1100" y="3810000"/>
            <a:ext cx="857250" cy="1809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0" b="1" i="0">
                <a:solidFill>
                  <a:srgbClr val="9FD0B0"/>
                </a:solidFill>
                <a:latin typeface="Fraunce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810000"/>
            <a:ext cx="6858000" cy="1809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i="0">
                <a:solidFill>
                  <a:srgbClr val="1D2430"/>
                </a:solidFill>
                <a:latin typeface="Inter"/>
              </a:rPr>
              <a:t>[Primeira dica, em uma ou duas linhas curtas.]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5905500"/>
            <a:ext cx="8763000" cy="1809750"/>
          </a:xfrm>
          <a:prstGeom prst="roundRect">
            <a:avLst>
              <a:gd name="adj" fmla="val 25263"/>
            </a:avLst>
          </a:prstGeom>
          <a:solidFill>
            <a:srgbClr val="FFFFFF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1100" y="5905500"/>
            <a:ext cx="857250" cy="1809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0" b="1" i="0">
                <a:solidFill>
                  <a:srgbClr val="9FD0B0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905500"/>
            <a:ext cx="6858000" cy="1809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i="0">
                <a:solidFill>
                  <a:srgbClr val="1D2430"/>
                </a:solidFill>
                <a:latin typeface="Inter"/>
              </a:rPr>
              <a:t>[Segunda dica, em uma ou duas linhas curtas.]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8001000"/>
            <a:ext cx="8763000" cy="1809750"/>
          </a:xfrm>
          <a:prstGeom prst="roundRect">
            <a:avLst>
              <a:gd name="adj" fmla="val 25263"/>
            </a:avLst>
          </a:prstGeom>
          <a:solidFill>
            <a:srgbClr val="FFFFFF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1100" y="8001000"/>
            <a:ext cx="857250" cy="1809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0" b="1" i="0">
                <a:solidFill>
                  <a:srgbClr val="9FD0B0"/>
                </a:solidFill>
                <a:latin typeface="Fraunce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8001000"/>
            <a:ext cx="6858000" cy="1809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i="0">
                <a:solidFill>
                  <a:srgbClr val="1D2430"/>
                </a:solidFill>
                <a:latin typeface="Inter"/>
              </a:rPr>
              <a:t>[Terceira dica, em uma ou duas linhas curtas.]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113919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48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762000"/>
            <a:ext cx="2857500" cy="2667000"/>
          </a:xfrm>
          <a:prstGeom prst="roundRect">
            <a:avLst>
              <a:gd name="adj" fmla="val 18571"/>
            </a:avLst>
          </a:prstGeom>
          <a:solidFill>
            <a:srgbClr val="013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990600"/>
            <a:ext cx="2857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750" b="1" i="0">
                <a:solidFill>
                  <a:srgbClr val="FFFFFF"/>
                </a:solidFill>
                <a:latin typeface="Fraunces"/>
              </a:rPr>
              <a:t>[00]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7622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5C46B"/>
                </a:solidFill>
                <a:latin typeface="Inter"/>
              </a:rPr>
              <a:t>[MÊS]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500" y="1238250"/>
            <a:ext cx="2190750" cy="62865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00500" y="1238250"/>
            <a:ext cx="21907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F5519"/>
                </a:solidFill>
                <a:latin typeface="Inter"/>
              </a:rPr>
              <a:t>Encontro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2171700"/>
            <a:ext cx="5524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56606C"/>
                </a:solidFill>
                <a:latin typeface="Inter"/>
              </a:rPr>
              <a:t>[Dia da semana], [00h00]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000500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6600" b="1" i="0">
                <a:solidFill>
                  <a:srgbClr val="013565"/>
                </a:solidFill>
                <a:latin typeface="Fraunces"/>
              </a:rPr>
              <a:t>[Nome do evento em até três </a:t>
            </a:r>
            <a:r>
              <a:rPr sz="6600" b="1" i="1">
                <a:solidFill>
                  <a:srgbClr val="1F5519"/>
                </a:solidFill>
                <a:latin typeface="Fraunces"/>
              </a:rPr>
              <a:t>linhas</a:t>
            </a:r>
            <a:r>
              <a:rPr sz="6600" b="1" i="0">
                <a:solidFill>
                  <a:srgbClr val="013565"/>
                </a:solidFill>
                <a:latin typeface="Fraunces"/>
              </a:rPr>
              <a:t>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7905750"/>
            <a:ext cx="8763000" cy="1905000"/>
          </a:xfrm>
          <a:prstGeom prst="roundRect">
            <a:avLst>
              <a:gd name="adj" fmla="val 24000"/>
            </a:avLst>
          </a:prstGeom>
          <a:solidFill>
            <a:srgbClr val="FFFFFF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1100" y="8267700"/>
            <a:ext cx="7905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1D2430"/>
                </a:solidFill>
                <a:latin typeface="Inter"/>
              </a:rPr>
              <a:t>Onde: [Local ou online]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8934450"/>
            <a:ext cx="7905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1D2430"/>
                </a:solidFill>
                <a:latin typeface="Inter"/>
              </a:rPr>
              <a:t>Para quem: [Grupo ou comunidade]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13919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48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5500" y="11220450"/>
            <a:ext cx="3619500" cy="838200"/>
          </a:xfrm>
          <a:prstGeom prst="roundRect">
            <a:avLst>
              <a:gd name="adj" fmla="val 50000"/>
            </a:avLst>
          </a:prstGeom>
          <a:solidFill>
            <a:srgbClr val="1F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5500" y="11220450"/>
            <a:ext cx="36195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Inter"/>
              </a:rPr>
              <a:t>Quero participar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571500"/>
            <a:ext cx="9144000" cy="5715000"/>
          </a:xfrm>
          <a:prstGeom prst="roundRect">
            <a:avLst>
              <a:gd name="adj" fmla="val 9333"/>
            </a:avLst>
          </a:prstGeom>
          <a:solidFill>
            <a:srgbClr val="9FD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571500"/>
            <a:ext cx="9144000" cy="571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50" b="1" i="0">
                <a:solidFill>
                  <a:srgbClr val="174313"/>
                </a:solidFill>
                <a:latin typeface="Inter"/>
              </a:rPr>
              <a:t>[FOTO 16:10]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838200"/>
            <a:ext cx="1428750" cy="5334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838200"/>
            <a:ext cx="1428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 i="0">
                <a:solidFill>
                  <a:srgbClr val="1F5519"/>
                </a:solidFill>
                <a:latin typeface="Inter"/>
              </a:rPr>
              <a:t>Novo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78180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2E7A4F"/>
                </a:solidFill>
                <a:latin typeface="Inter"/>
              </a:rPr>
              <a:t>CULTURA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27710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700" b="1" i="0">
                <a:solidFill>
                  <a:srgbClr val="013565"/>
                </a:solidFill>
                <a:latin typeface="Fraunces"/>
              </a:rPr>
              <a:t>[Título do conteúdo em até três linhas]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0020300"/>
            <a:ext cx="8763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56606C"/>
                </a:solidFill>
                <a:latin typeface="Inter"/>
              </a:rPr>
              <a:t>[Uma linha de apoio.]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13919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48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11277600"/>
            <a:ext cx="3238500" cy="8001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500" y="11277600"/>
            <a:ext cx="32385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013565"/>
                </a:solidFill>
                <a:latin typeface="Inter"/>
              </a:rPr>
              <a:t>Ver no portal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8765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CFE9C4"/>
                </a:solidFill>
                <a:latin typeface="Inter"/>
              </a:rPr>
              <a:t>PARA LEMBRAR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524250"/>
            <a:ext cx="876300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i="0">
                <a:solidFill>
                  <a:srgbClr val="FFFFFF"/>
                </a:solidFill>
                <a:latin typeface="Fraunces"/>
              </a:rPr>
              <a:t>Tempo de qualidade, conexões </a:t>
            </a:r>
            <a:r>
              <a:rPr sz="7500" b="1" i="1">
                <a:solidFill>
                  <a:srgbClr val="CFE9C4"/>
                </a:solidFill>
                <a:latin typeface="Fraunces"/>
              </a:rPr>
              <a:t>genuínas</a:t>
            </a:r>
            <a:r>
              <a:rPr sz="7500" b="1" i="0">
                <a:solidFill>
                  <a:srgbClr val="FFFFFF"/>
                </a:solidFill>
                <a:latin typeface="Fraunce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1440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E6F2EA"/>
                </a:solidFill>
                <a:latin typeface="Inter"/>
              </a:rPr>
              <a:t>[Linha de apoio opcional.]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919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1">
                <a:solidFill>
                  <a:srgbClr val="D6E6F5"/>
                </a:solidFill>
                <a:latin typeface="Times New Roman"/>
              </a:rPr>
              <a:t>Soft</a:t>
            </a:r>
            <a:r>
              <a:rPr sz="4800" b="1" i="0">
                <a:solidFill>
                  <a:srgbClr val="CFE9C4"/>
                </a:solidFill>
                <a:latin typeface="Times New Roman"/>
              </a:rPr>
              <a:t>Living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762000"/>
            <a:ext cx="3524250" cy="628650"/>
          </a:xfrm>
          <a:prstGeom prst="roundRect">
            <a:avLst>
              <a:gd name="adj" fmla="val 50000"/>
            </a:avLst>
          </a:prstGeom>
          <a:solidFill>
            <a:srgbClr val="FDF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35242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A5A12"/>
                </a:solidFill>
                <a:latin typeface="Inter"/>
              </a:rPr>
              <a:t>Créditos SoftLiving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809750"/>
            <a:ext cx="87630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6000" b="1" i="0">
                <a:solidFill>
                  <a:srgbClr val="013565"/>
                </a:solidFill>
                <a:latin typeface="Fraunces"/>
              </a:rPr>
              <a:t>[Chamada da oferta em até duas linhas]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0750" y="4191000"/>
            <a:ext cx="5905500" cy="4191000"/>
          </a:xfrm>
          <a:prstGeom prst="roundRect">
            <a:avLst>
              <a:gd name="adj" fmla="val 12727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0750" y="4552950"/>
            <a:ext cx="5905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8A5A0E"/>
                </a:solidFill>
                <a:latin typeface="Inter"/>
              </a:rPr>
              <a:t>Você ganha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0750" y="5143500"/>
            <a:ext cx="5905500" cy="219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0" b="1" i="0">
                <a:solidFill>
                  <a:srgbClr val="8A5A0E"/>
                </a:solidFill>
                <a:latin typeface="Fraunces"/>
              </a:rPr>
              <a:t>[00]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0750" y="7543800"/>
            <a:ext cx="590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5C4108"/>
                </a:solidFill>
                <a:latin typeface="Inter"/>
              </a:rPr>
              <a:t>créditos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85825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2550" b="0" i="0">
                <a:solidFill>
                  <a:srgbClr val="56606C"/>
                </a:solidFill>
                <a:latin typeface="Inter"/>
              </a:rPr>
              <a:t>[Condição da oferta em uma linha. Valores sem espaço: R$00.]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13919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48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6500" y="11239500"/>
            <a:ext cx="3238500" cy="838200"/>
          </a:xfrm>
          <a:prstGeom prst="roundRect">
            <a:avLst>
              <a:gd name="adj" fmla="val 50000"/>
            </a:avLst>
          </a:prstGeom>
          <a:solidFill>
            <a:srgbClr val="1F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6500" y="11239500"/>
            <a:ext cx="32385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5C46B"/>
                </a:solidFill>
                <a:latin typeface="Inter"/>
              </a:rPr>
              <a:t>Aproveitar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8572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2E7A4F"/>
                </a:solidFill>
                <a:latin typeface="Inter"/>
              </a:rPr>
              <a:t>GUIA RÁPIDO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96250" y="704850"/>
            <a:ext cx="1428750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96250" y="704850"/>
            <a:ext cx="14287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 i="0">
                <a:solidFill>
                  <a:srgbClr val="013565"/>
                </a:solidFill>
                <a:latin typeface="Inter"/>
              </a:rPr>
              <a:t>1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809750"/>
            <a:ext cx="38100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0" b="1" i="0">
                <a:solidFill>
                  <a:srgbClr val="FFFFFF"/>
                </a:solidFill>
                <a:latin typeface="Fraunce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905500"/>
            <a:ext cx="8763000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i="0">
                <a:solidFill>
                  <a:srgbClr val="013565"/>
                </a:solidFill>
                <a:latin typeface="Fraunces"/>
              </a:rPr>
              <a:t>[coisas para fazer em </a:t>
            </a:r>
            <a:r>
              <a:rPr sz="6900" b="1" i="1">
                <a:solidFill>
                  <a:srgbClr val="1F5519"/>
                </a:solidFill>
                <a:latin typeface="Fraunces"/>
              </a:rPr>
              <a:t>grupo</a:t>
            </a:r>
            <a:r>
              <a:rPr sz="6900" b="1" i="0">
                <a:solidFill>
                  <a:srgbClr val="013565"/>
                </a:solidFill>
                <a:latin typeface="Fraunces"/>
              </a:rPr>
              <a:t> este mês]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13919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48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0" y="11239500"/>
            <a:ext cx="3429000" cy="838200"/>
          </a:xfrm>
          <a:prstGeom prst="roundRect">
            <a:avLst>
              <a:gd name="adj" fmla="val 50000"/>
            </a:avLst>
          </a:prstGeom>
          <a:solidFill>
            <a:srgbClr val="1F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0" y="11239500"/>
            <a:ext cx="3429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Inter"/>
              </a:rPr>
              <a:t>Arraste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